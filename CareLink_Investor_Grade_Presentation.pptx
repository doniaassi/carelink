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188720" y="4754880"/>
            <a:ext cx="2926080" cy="2011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480560"/>
            <a:ext cx="384048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8428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428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8428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428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1984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01984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9688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9688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9688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7392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37392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7392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37392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5096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55096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5096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480560" cy="2834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arelink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691640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5800" y="1417320"/>
            <a:ext cx="4389120" cy="1417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Segoe UI"/>
              </a:rPr>
              <a:t>AI-Powered
Home Healthcare,
Redefined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290779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475569"/>
                </a:solidFill>
                <a:latin typeface="Segoe UI"/>
              </a:rPr>
              <a:t>Intelligent care. Trusted providers. Better lives.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547872"/>
            <a:ext cx="1024128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6968" y="3730752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3803904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0472" y="3730752"/>
            <a:ext cx="365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Patient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56232" y="3547872"/>
            <a:ext cx="1024128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057400" y="3730752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30552" y="3803904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DR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730752"/>
            <a:ext cx="365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Doctor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26664" y="3547872"/>
            <a:ext cx="1024128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227832" y="3730752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00984" y="3803904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NR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31336" y="3730752"/>
            <a:ext cx="365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Nurse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97096" y="3547872"/>
            <a:ext cx="1024128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98264" y="3730752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71416" y="3803904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1768" y="3730752"/>
            <a:ext cx="365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Admin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559612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0F172A"/>
                </a:solidFill>
                <a:latin typeface="Segoe UI"/>
              </a:rPr>
              <a:t>Graduation Project
Computer Science Department
Academic Year 2025 - 2026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40680" y="685800"/>
            <a:ext cx="1965960" cy="5440680"/>
          </a:xfrm>
          <a:prstGeom prst="roundRect">
            <a:avLst>
              <a:gd name="adj" fmla="val 14000"/>
            </a:avLst>
          </a:prstGeom>
          <a:solidFill>
            <a:srgbClr val="10131A"/>
          </a:solidFill>
          <a:ln>
            <a:noFill/>
          </a:ln>
          <a:effectLst>
            <a:outerShdw blurRad="58000" dist="17000" dir="5400000" algn="ctr" rotWithShape="0">
              <a:srgbClr val="0F172A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532120" y="795528"/>
            <a:ext cx="1783080" cy="5221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87568" y="10698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Find Care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96712" y="1444752"/>
            <a:ext cx="1453896" cy="320040"/>
          </a:xfrm>
          <a:prstGeom prst="roundRect">
            <a:avLst>
              <a:gd name="adj" fmla="val 45000"/>
            </a:avLst>
          </a:prstGeom>
          <a:solidFill>
            <a:srgbClr val="F8FAFC"/>
          </a:solidFill>
          <a:ln w="12700">
            <a:solidFill>
              <a:srgbClr val="D7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06440" y="1517904"/>
            <a:ext cx="128016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80" b="1">
                <a:solidFill>
                  <a:srgbClr val="0F766E"/>
                </a:solidFill>
                <a:latin typeface="Segoe UI"/>
              </a:rPr>
              <a:t>AI Recommendation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0" y="1929384"/>
            <a:ext cx="1508760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788152" y="2039112"/>
            <a:ext cx="310896" cy="310896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0488" y="2039112"/>
            <a:ext cx="9144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0F172A"/>
                </a:solidFill>
                <a:latin typeface="Segoe UI"/>
              </a:rPr>
              <a:t>Dr. Ahmed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90488" y="2221992"/>
            <a:ext cx="11430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20" b="0">
                <a:solidFill>
                  <a:srgbClr val="475569"/>
                </a:solidFill>
                <a:latin typeface="Segoe UI"/>
              </a:rPr>
              <a:t>4.9  -  Available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76288" y="2130552"/>
            <a:ext cx="219456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20" b="1">
                <a:solidFill>
                  <a:srgbClr val="0F766E"/>
                </a:solidFill>
                <a:latin typeface="Segoe UI"/>
              </a:rPr>
              <a:t>0.9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0" y="2624328"/>
            <a:ext cx="1508760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788152" y="2734056"/>
            <a:ext cx="310896" cy="310896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90488" y="2734056"/>
            <a:ext cx="9144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0F172A"/>
                </a:solidFill>
                <a:latin typeface="Segoe UI"/>
              </a:rPr>
              <a:t>Nurse Lina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0488" y="2916936"/>
            <a:ext cx="11430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20" b="0">
                <a:solidFill>
                  <a:srgbClr val="475569"/>
                </a:solidFill>
                <a:latin typeface="Segoe UI"/>
              </a:rPr>
              <a:t>4.9  -  Available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76288" y="2825496"/>
            <a:ext cx="219456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20" b="1">
                <a:solidFill>
                  <a:srgbClr val="0F766E"/>
                </a:solidFill>
                <a:latin typeface="Segoe UI"/>
              </a:rPr>
              <a:t>0.9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80" y="3319272"/>
            <a:ext cx="1508760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788152" y="3429000"/>
            <a:ext cx="310896" cy="310896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90488" y="3429000"/>
            <a:ext cx="91440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20" b="1">
                <a:solidFill>
                  <a:srgbClr val="0F172A"/>
                </a:solidFill>
                <a:latin typeface="Segoe UI"/>
              </a:rPr>
              <a:t>Dr. Sara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90488" y="3611880"/>
            <a:ext cx="1143000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20" b="0">
                <a:solidFill>
                  <a:srgbClr val="475569"/>
                </a:solidFill>
                <a:latin typeface="Segoe UI"/>
              </a:rPr>
              <a:t>4.9  -  Available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76288" y="352044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20" b="1">
                <a:solidFill>
                  <a:srgbClr val="0F766E"/>
                </a:solidFill>
                <a:latin typeface="Segoe UI"/>
              </a:rPr>
              <a:t>0.9</a:t>
            </a:r>
          </a:p>
        </p:txBody>
      </p:sp>
      <p:pic>
        <p:nvPicPr>
          <p:cNvPr id="70" name="Picture 69" descr="doctorportra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749808"/>
            <a:ext cx="2743200" cy="5166360"/>
          </a:xfrm>
          <a:prstGeom prst="rect">
            <a:avLst/>
          </a:prstGeom>
          <a:effectLst>
            <a:outerShdw blurRad="50000" dist="14000" dir="5400000" algn="ctr" rotWithShape="0">
              <a:srgbClr val="0F172A">
                <a:alpha val="16000"/>
              </a:srgbClr>
            </a:outerShdw>
          </a:effectLst>
        </p:spPr>
      </p:pic>
    </p:spTree>
  </p:cSld>
  <p:clrMapOvr>
    <a:masterClrMapping/>
  </p:clrMapOvr>
  <p:transition spd="med" advClick="1">
    <p:fade/>
  </p:transition>
  <p:timing>
    <p:tnLst>
      <p:par>
        <p:cTn id="9560" dur="indefinite" restart="whenNotActive" nodeType="tmRoot">
          <p:childTnLst>
            <p:seq concurrent="1" nextAc="seek">
              <p:cTn id="9561" dur="indefinite" nodeType="mainSeq">
                <p:childTnLst>
                  <p:par>
                    <p:cTn id="456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560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61" presetID="10" presetClass="entr" presetSubtype="0" fill="hold" nodeType="clickEffect">
                      <p:stCondLst>
                        <p:cond delay="80"/>
                      </p:stCondLst>
                      <p:childTnLst>
                        <p:set>
                          <p:cBhvr>
                            <p:cTn id="5561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62" presetID="10" presetClass="entr" presetSubtype="0" fill="hold" nodeType="clickEffect">
                      <p:stCondLst>
                        <p:cond delay="160"/>
                      </p:stCondLst>
                      <p:childTnLst>
                        <p:set>
                          <p:cBhvr>
                            <p:cTn id="5562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63" presetID="10" presetClass="entr" presetSubtype="0" fill="hold" nodeType="clickEffect">
                      <p:stCondLst>
                        <p:cond delay="240"/>
                      </p:stCondLst>
                      <p:childTnLst>
                        <p:set>
                          <p:cBhvr>
                            <p:cTn id="5563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64" presetID="10" presetClass="entr" presetSubtype="0" fill="hold" nodeType="clickEffect">
                      <p:stCondLst>
                        <p:cond delay="320"/>
                      </p:stCondLst>
                      <p:childTnLst>
                        <p:set>
                          <p:cBhvr>
                            <p:cTn id="556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65"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id="556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66" presetID="10" presetClass="entr" presetSubtype="0" fill="hold" nodeType="clickEffect">
                      <p:stCondLst>
                        <p:cond delay="480"/>
                      </p:stCondLst>
                      <p:childTnLst>
                        <p:set>
                          <p:cBhvr>
                            <p:cTn id="5566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188720" y="4754880"/>
            <a:ext cx="2926080" cy="2011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480560"/>
            <a:ext cx="384048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8428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428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8428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428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1984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01984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9688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9688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9688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7392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37392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7392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37392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5096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55096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5096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480560" cy="2834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84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INTRODUCTION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3504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What is CareLink?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371600"/>
            <a:ext cx="3931920" cy="1143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475569"/>
                </a:solidFill>
                <a:latin typeface="Segoe UI"/>
              </a:rPr>
              <a:t>CareLink is a full-stack mobile platform for home healthcare delivery. It connects patients with verified doctors and nurses through intelligent provider matching, real-time scheduling, structured medical records, in-app chat, and governed payments.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1243584"/>
            <a:ext cx="1481328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276088" y="1426464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0" y="1499616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1426464"/>
            <a:ext cx="4937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Patient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9592" y="1746504"/>
            <a:ext cx="493776" cy="131673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Book care, manage records, chat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3720" y="1243584"/>
            <a:ext cx="1481328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04888" y="1426464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40" y="1499616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08392" y="1426464"/>
            <a:ext cx="4937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Doctor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8392" y="1746504"/>
            <a:ext cx="493776" cy="131673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Accept requests, schedule, reports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1243584"/>
            <a:ext cx="1481328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33688" y="1426464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40" y="1499616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NR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37192" y="1426464"/>
            <a:ext cx="4937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Nurse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37192" y="1746504"/>
            <a:ext cx="493776" cy="131673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Home visits, tracking, earnings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5074920"/>
            <a:ext cx="2240280" cy="6400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36000" dist="12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230368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Sego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532120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0F172A"/>
                </a:solidFill>
                <a:latin typeface="Segoe UI"/>
              </a:rPr>
              <a:t>User roles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11880" y="5074920"/>
            <a:ext cx="2240280" cy="6400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36000" dist="12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11880" y="5230368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Segoe UI"/>
              </a:rPr>
              <a:t>12+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5532120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0F172A"/>
                </a:solidFill>
                <a:latin typeface="Segoe UI"/>
              </a:rPr>
              <a:t>API route groups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9360" y="5074920"/>
            <a:ext cx="2240280" cy="6400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36000" dist="12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5230368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Segoe UI"/>
              </a:rPr>
              <a:t>AR / 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5532120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0F172A"/>
                </a:solidFill>
                <a:latin typeface="Segoe UI"/>
              </a:rPr>
              <a:t>Bilingual interface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06840" y="5074920"/>
            <a:ext cx="2240280" cy="6400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36000" dist="12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06840" y="5230368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Segoe UI"/>
              </a:rPr>
              <a:t>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6840" y="5532120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750" b="1">
                <a:solidFill>
                  <a:srgbClr val="0F172A"/>
                </a:solidFill>
                <a:latin typeface="Segoe UI"/>
              </a:rPr>
              <a:t>Smart matching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570" dur="indefinite" restart="whenNotActive" nodeType="tmRoot">
          <p:childTnLst>
            <p:seq concurrent="1" nextAc="seek">
              <p:cTn id="9571" dur="indefinite" nodeType="mainSeq">
                <p:childTnLst>
                  <p:par>
                    <p:cTn id="457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570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71" presetID="10" presetClass="entr" presetSubtype="0" fill="hold" nodeType="clickEffect">
                      <p:stCondLst>
                        <p:cond delay="80"/>
                      </p:stCondLst>
                      <p:childTnLst>
                        <p:set>
                          <p:cBhvr>
                            <p:cTn id="5571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72" presetID="10" presetClass="entr" presetSubtype="0" fill="hold" nodeType="clickEffect">
                      <p:stCondLst>
                        <p:cond delay="160"/>
                      </p:stCondLst>
                      <p:childTnLst>
                        <p:set>
                          <p:cBhvr>
                            <p:cTn id="5572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73" presetID="10" presetClass="entr" presetSubtype="0" fill="hold" nodeType="clickEffect">
                      <p:stCondLst>
                        <p:cond delay="240"/>
                      </p:stCondLst>
                      <p:childTnLst>
                        <p:set>
                          <p:cBhvr>
                            <p:cTn id="5573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74" presetID="10" presetClass="entr" presetSubtype="0" fill="hold" nodeType="clickEffect">
                      <p:stCondLst>
                        <p:cond delay="320"/>
                      </p:stCondLst>
                      <p:childTnLst>
                        <p:set>
                          <p:cBhvr>
                            <p:cTn id="557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75"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id="557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76" presetID="10" presetClass="entr" presetSubtype="0" fill="hold" nodeType="clickEffect">
                      <p:stCondLst>
                        <p:cond delay="480"/>
                      </p:stCondLst>
                      <p:childTnLst>
                        <p:set>
                          <p:cBhvr>
                            <p:cTn id="5576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188720" y="4754880"/>
            <a:ext cx="2926080" cy="2011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480560"/>
            <a:ext cx="384048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8428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428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8428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428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1984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01984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9688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9688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9688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7392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37392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7392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37392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5096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55096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5096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480560" cy="2834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84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THE CHALLENGE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3504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Three Gaps in Home Healthcare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1417320"/>
            <a:ext cx="306324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3F5E"/>
            </a:solidFill>
          </a:ln>
          <a:effectLst>
            <a:outerShdw blurRad="42000" dist="12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166420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600" b="1">
                <a:solidFill>
                  <a:srgbClr val="F43F5E"/>
                </a:solidFill>
                <a:latin typeface="Segoe UI"/>
              </a:rPr>
              <a:t>01</a:t>
            </a:r>
          </a:p>
        </p:txBody>
      </p:sp>
      <p:sp>
        <p:nvSpPr>
          <p:cNvPr id="34" name="Oval 33"/>
          <p:cNvSpPr/>
          <p:nvPr/>
        </p:nvSpPr>
        <p:spPr>
          <a:xfrm>
            <a:off x="1097280" y="205740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" y="213055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100" b="0">
                <a:solidFill>
                  <a:srgbClr val="F43F5E"/>
                </a:solidFill>
                <a:latin typeface="Segoe UI"/>
              </a:rPr>
              <a:t>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297180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Segoe UI"/>
              </a:rPr>
              <a:t>No Unified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3566160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1019" b="0">
                <a:solidFill>
                  <a:srgbClr val="475569"/>
                </a:solidFill>
                <a:latin typeface="Segoe UI"/>
              </a:rPr>
              <a:t>Patients need one place to discover, verify, book, pay, chat, and manage records.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59" y="1417320"/>
            <a:ext cx="306324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>
            <a:outerShdw blurRad="42000" dist="12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79" y="166420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600" b="1">
                <a:solidFill>
                  <a:srgbClr val="F59E0B"/>
                </a:solidFill>
                <a:latin typeface="Segoe UI"/>
              </a:rPr>
              <a:t>02</a:t>
            </a:r>
          </a:p>
        </p:txBody>
      </p:sp>
      <p:sp>
        <p:nvSpPr>
          <p:cNvPr id="40" name="Oval 39"/>
          <p:cNvSpPr/>
          <p:nvPr/>
        </p:nvSpPr>
        <p:spPr>
          <a:xfrm>
            <a:off x="4800599" y="205740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73751" y="213055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100" b="0">
                <a:solidFill>
                  <a:srgbClr val="F59E0B"/>
                </a:solidFill>
                <a:latin typeface="Segoe UI"/>
              </a:rPr>
              <a:t>CAL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599" y="297180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Segoe UI"/>
              </a:rPr>
              <a:t>Fragmented Scheduling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599" y="3566160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1019" b="0">
                <a:solidFill>
                  <a:srgbClr val="475569"/>
                </a:solidFill>
                <a:latin typeface="Segoe UI"/>
              </a:rPr>
              <a:t>Provider availability, booking requests, rescheduling, and cancellations need coordinated workflows.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79" y="1417320"/>
            <a:ext cx="306324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>
            <a:outerShdw blurRad="42000" dist="12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599" y="166420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6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46" name="Oval 45"/>
          <p:cNvSpPr/>
          <p:nvPr/>
        </p:nvSpPr>
        <p:spPr>
          <a:xfrm>
            <a:off x="8503919" y="205740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7071" y="213055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100" b="0">
                <a:solidFill>
                  <a:srgbClr val="8B5CF6"/>
                </a:solidFill>
                <a:latin typeface="Segoe UI"/>
              </a:rPr>
              <a:t>$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19" y="297180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Segoe UI"/>
              </a:rPr>
              <a:t>Opaque Payments &amp; Governance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19" y="3566160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1019" b="0">
                <a:solidFill>
                  <a:srgbClr val="475569"/>
                </a:solidFill>
                <a:latin typeface="Segoe UI"/>
              </a:rPr>
              <a:t>Escrow-style payment status, approval gates, refunds, and wallets require clear control.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580" dur="indefinite" restart="whenNotActive" nodeType="tmRoot">
          <p:childTnLst>
            <p:seq concurrent="1" nextAc="seek">
              <p:cTn id="9581" dur="indefinite" nodeType="mainSeq">
                <p:childTnLst>
                  <p:par>
                    <p:cTn id="458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580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81" presetID="10" presetClass="entr" presetSubtype="0" fill="hold" nodeType="clickEffect">
                      <p:stCondLst>
                        <p:cond delay="80"/>
                      </p:stCondLst>
                      <p:childTnLst>
                        <p:set>
                          <p:cBhvr>
                            <p:cTn id="5581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82" presetID="10" presetClass="entr" presetSubtype="0" fill="hold" nodeType="clickEffect">
                      <p:stCondLst>
                        <p:cond delay="160"/>
                      </p:stCondLst>
                      <p:childTnLst>
                        <p:set>
                          <p:cBhvr>
                            <p:cTn id="5582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83" presetID="10" presetClass="entr" presetSubtype="0" fill="hold" nodeType="clickEffect">
                      <p:stCondLst>
                        <p:cond delay="240"/>
                      </p:stCondLst>
                      <p:childTnLst>
                        <p:set>
                          <p:cBhvr>
                            <p:cTn id="5583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84" presetID="10" presetClass="entr" presetSubtype="0" fill="hold" nodeType="clickEffect">
                      <p:stCondLst>
                        <p:cond delay="320"/>
                      </p:stCondLst>
                      <p:childTnLst>
                        <p:set>
                          <p:cBhvr>
                            <p:cTn id="558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85"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id="558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86" presetID="10" presetClass="entr" presetSubtype="0" fill="hold" nodeType="clickEffect">
                      <p:stCondLst>
                        <p:cond delay="480"/>
                      </p:stCondLst>
                      <p:childTnLst>
                        <p:set>
                          <p:cBhvr>
                            <p:cTn id="5586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188720" y="4754880"/>
            <a:ext cx="2926080" cy="2011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480560"/>
            <a:ext cx="384048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8428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428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8428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428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1984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01984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9688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9688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9688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7392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37392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7392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37392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5096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55096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5096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480560" cy="2834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84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OUR 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3504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CareLink: End-to-End Home Care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171907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300" b="0">
                <a:solidFill>
                  <a:srgbClr val="0F766E"/>
                </a:solidFill>
                <a:latin typeface="Segoe UI"/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46888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Find
Providers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444752" y="1901952"/>
            <a:ext cx="813816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017520" y="164592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90672" y="171907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300" b="0">
                <a:solidFill>
                  <a:srgbClr val="0F766E"/>
                </a:solidFill>
                <a:latin typeface="Segoe UI"/>
              </a:rPr>
              <a:t>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246888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Choose
Date &amp; Time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93592" y="1901952"/>
            <a:ext cx="813816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166360" y="164592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9512" y="171907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300" b="0">
                <a:solidFill>
                  <a:srgbClr val="0F766E"/>
                </a:solidFill>
                <a:latin typeface="Segoe UI"/>
              </a:rPr>
              <a:t>LOC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246888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Set
Location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42432" y="1901952"/>
            <a:ext cx="813816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315200" y="164592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88352" y="171907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300" b="0">
                <a:solidFill>
                  <a:srgbClr val="0F766E"/>
                </a:solidFill>
                <a:latin typeface="Segoe UI"/>
              </a:rPr>
              <a:t>$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46888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Secure
Payment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891272" y="1901952"/>
            <a:ext cx="813816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9464040" y="164592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37192" y="171907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300" b="0">
                <a:solidFill>
                  <a:srgbClr val="0F766E"/>
                </a:solidFill>
                <a:latin typeface="Segoe UI"/>
              </a:rPr>
              <a:t>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246888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Care
Delivered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4315968"/>
            <a:ext cx="2423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86968" y="449884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457200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90472" y="4498848"/>
            <a:ext cx="143560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AI Recommendation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90472" y="4818888"/>
            <a:ext cx="1435608" cy="3383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Smart provider matching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538728" y="4315968"/>
            <a:ext cx="2423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739896" y="449884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13048" y="457200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$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43400" y="4498848"/>
            <a:ext cx="143560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Secure Payments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43400" y="4818888"/>
            <a:ext cx="1435608" cy="3383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Simulated escrow and refund policy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91656" y="4315968"/>
            <a:ext cx="2423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592824" y="449884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65976" y="457200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MR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96328" y="4498848"/>
            <a:ext cx="143560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Medical Records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96328" y="4818888"/>
            <a:ext cx="1435608" cy="3383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Structured continuous care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244584" y="4315968"/>
            <a:ext cx="2423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445752" y="449884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18904" y="457200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49256" y="4498848"/>
            <a:ext cx="143560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Real-time Chat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49256" y="4818888"/>
            <a:ext cx="1435608" cy="3383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Messages, files, voice notes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590" dur="indefinite" restart="whenNotActive" nodeType="tmRoot">
          <p:childTnLst>
            <p:seq concurrent="1" nextAc="seek">
              <p:cTn id="9591" dur="indefinite" nodeType="mainSeq">
                <p:childTnLst>
                  <p:par>
                    <p:cTn id="459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590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91" presetID="10" presetClass="entr" presetSubtype="0" fill="hold" nodeType="clickEffect">
                      <p:stCondLst>
                        <p:cond delay="80"/>
                      </p:stCondLst>
                      <p:childTnLst>
                        <p:set>
                          <p:cBhvr>
                            <p:cTn id="5591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92" presetID="10" presetClass="entr" presetSubtype="0" fill="hold" nodeType="clickEffect">
                      <p:stCondLst>
                        <p:cond delay="160"/>
                      </p:stCondLst>
                      <p:childTnLst>
                        <p:set>
                          <p:cBhvr>
                            <p:cTn id="5592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93" presetID="10" presetClass="entr" presetSubtype="0" fill="hold" nodeType="clickEffect">
                      <p:stCondLst>
                        <p:cond delay="240"/>
                      </p:stCondLst>
                      <p:childTnLst>
                        <p:set>
                          <p:cBhvr>
                            <p:cTn id="5593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94" presetID="10" presetClass="entr" presetSubtype="0" fill="hold" nodeType="clickEffect">
                      <p:stCondLst>
                        <p:cond delay="320"/>
                      </p:stCondLst>
                      <p:childTnLst>
                        <p:set>
                          <p:cBhvr>
                            <p:cTn id="559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95"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id="559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596" presetID="10" presetClass="entr" presetSubtype="0" fill="hold" nodeType="clickEffect">
                      <p:stCondLst>
                        <p:cond delay="480"/>
                      </p:stCondLst>
                      <p:childTnLst>
                        <p:set>
                          <p:cBhvr>
                            <p:cTn id="5596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188720" y="4754880"/>
            <a:ext cx="2926080" cy="2011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480560"/>
            <a:ext cx="384048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8428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428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8428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428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1984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01984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9688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9688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9688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7392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37392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7392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37392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5096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55096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5096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480560" cy="2834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84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WHAT WE BUILT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3504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Key Features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1325880"/>
            <a:ext cx="31546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150876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158191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81912" y="1508760"/>
            <a:ext cx="216712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5-Step Booking 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81912" y="1828800"/>
            <a:ext cx="2167128" cy="95097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Search, schedule, location, review, payment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25880"/>
            <a:ext cx="31546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73168" y="150876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158191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1508760"/>
            <a:ext cx="216712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Real-Time Chat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6672" y="1828800"/>
            <a:ext cx="2167128" cy="95097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Messages, images, PDFs, voice notes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1325880"/>
            <a:ext cx="31546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67928" y="150876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1080" y="158191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MR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1432" y="1508760"/>
            <a:ext cx="216712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Medical Records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1432" y="1828800"/>
            <a:ext cx="2167128" cy="95097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Diseases, allergies, notes, lab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3538728"/>
            <a:ext cx="31546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78408" y="372160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379476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REF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81912" y="3721608"/>
            <a:ext cx="216712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Cancellation &amp; Refunds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81912" y="4041648"/>
            <a:ext cx="2167128" cy="95097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Policy-based patient/provider flows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0" y="3538728"/>
            <a:ext cx="31546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773168" y="372160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379476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$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76672" y="3721608"/>
            <a:ext cx="216712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Provider Wallet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76672" y="4041648"/>
            <a:ext cx="2167128" cy="95097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Earnings, payouts, platform commission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66760" y="3538728"/>
            <a:ext cx="31546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567928" y="372160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1080" y="379476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71432" y="3721608"/>
            <a:ext cx="216712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Rate Approval Gate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71432" y="4041648"/>
            <a:ext cx="2167128" cy="95097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Admin accepts rates before account activation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600" dur="indefinite" restart="whenNotActive" nodeType="tmRoot">
          <p:childTnLst>
            <p:seq concurrent="1" nextAc="seek">
              <p:cTn id="9601" dur="indefinite" nodeType="mainSeq">
                <p:childTnLst>
                  <p:par>
                    <p:cTn id="460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600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01" presetID="10" presetClass="entr" presetSubtype="0" fill="hold" nodeType="clickEffect">
                      <p:stCondLst>
                        <p:cond delay="80"/>
                      </p:stCondLst>
                      <p:childTnLst>
                        <p:set>
                          <p:cBhvr>
                            <p:cTn id="5601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02" presetID="10" presetClass="entr" presetSubtype="0" fill="hold" nodeType="clickEffect">
                      <p:stCondLst>
                        <p:cond delay="160"/>
                      </p:stCondLst>
                      <p:childTnLst>
                        <p:set>
                          <p:cBhvr>
                            <p:cTn id="5602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03" presetID="10" presetClass="entr" presetSubtype="0" fill="hold" nodeType="clickEffect">
                      <p:stCondLst>
                        <p:cond delay="240"/>
                      </p:stCondLst>
                      <p:childTnLst>
                        <p:set>
                          <p:cBhvr>
                            <p:cTn id="5603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04" presetID="10" presetClass="entr" presetSubtype="0" fill="hold" nodeType="clickEffect">
                      <p:stCondLst>
                        <p:cond delay="320"/>
                      </p:stCondLst>
                      <p:childTnLst>
                        <p:set>
                          <p:cBhvr>
                            <p:cTn id="560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05"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id="560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06" presetID="10" presetClass="entr" presetSubtype="0" fill="hold" nodeType="clickEffect">
                      <p:stCondLst>
                        <p:cond delay="480"/>
                      </p:stCondLst>
                      <p:childTnLst>
                        <p:set>
                          <p:cBhvr>
                            <p:cTn id="5606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188720" y="4754880"/>
            <a:ext cx="2926080" cy="2011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480560"/>
            <a:ext cx="384048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8428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428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8428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428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1984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01984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9688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9688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9688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7392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37392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7392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37392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5096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55096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5096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480560" cy="2834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84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INTELLIGENCE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3504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AI Recommendation Engine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1325880"/>
            <a:ext cx="16916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5528" y="150876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158191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1508760"/>
            <a:ext cx="70408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Patient Profile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9032" y="1828800"/>
            <a:ext cx="704088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diagnoses, allergies, medications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51760" y="1325880"/>
            <a:ext cx="16916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852928" y="150876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158191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MR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6432" y="1508760"/>
            <a:ext cx="70408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Medical File Tags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6432" y="1828800"/>
            <a:ext cx="704088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OCR / AI analysis tags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09160" y="1325880"/>
            <a:ext cx="16916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10328" y="150876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158191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13832" y="1508760"/>
            <a:ext cx="70408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Search Query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13832" y="1828800"/>
            <a:ext cx="704088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free text or voice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66560" y="1325880"/>
            <a:ext cx="16916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67728" y="150876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158191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LOC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71232" y="1508760"/>
            <a:ext cx="704088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GPS Location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71232" y="1828800"/>
            <a:ext cx="704088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distance and availability</a:t>
            </a:r>
          </a:p>
        </p:txBody>
      </p:sp>
      <p:sp>
        <p:nvSpPr>
          <p:cNvPr id="52" name="Oval 51"/>
          <p:cNvSpPr/>
          <p:nvPr/>
        </p:nvSpPr>
        <p:spPr>
          <a:gradFill>
            <a:gsLst>
              <a:gs pos="0">
                <a:srgbClr val="0F766E"/>
              </a:gs>
              <a:gs pos="100000">
                <a:srgbClr val="14B8A6"/>
              </a:gs>
            </a:gsLst>
            <a:lin ang="8100000" scaled="0"/>
          </a:gradFill>
          <a:xfrm>
            <a:off x="5074920" y="2240280"/>
            <a:ext cx="2011680" cy="2011680"/>
          </a:xfrm>
          <a:prstGeom prst="ellipse">
            <a:avLst/>
          </a:prstGeom>
          <a:ln>
            <a:noFill/>
          </a:ln>
          <a:effectLst>
            <a:outerShdw blurRad="65000" dist="16000" dir="5400000" algn="ctr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77840" y="2706624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Segoe UI"/>
              </a:rPr>
              <a:t>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41264" y="318211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Segoe UI"/>
              </a:rPr>
              <a:t>matching core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240280" y="1874519"/>
            <a:ext cx="2834640" cy="1371601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297680" y="1874519"/>
            <a:ext cx="777240" cy="1371601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5074920" y="1874519"/>
            <a:ext cx="1280160" cy="1371601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5074920" y="1874519"/>
            <a:ext cx="3337560" cy="1371601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658368" y="4791456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59536" y="4974336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688" y="504748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*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4974336"/>
            <a:ext cx="886967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Specialization Match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63040" y="5294376"/>
            <a:ext cx="886967" cy="12801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ICD + keyword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898648" y="4791456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99816" y="4974336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72968" y="504748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03320" y="4974336"/>
            <a:ext cx="886967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Experience Score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03320" y="5294376"/>
            <a:ext cx="886967" cy="12801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0.4 - 1.0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138928" y="4791456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40096" y="4974336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13248" y="504748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*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4974336"/>
            <a:ext cx="886967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Rating Score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0" y="5294376"/>
            <a:ext cx="886967" cy="12801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Normalized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79208" y="4791456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80376" y="4974336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53528" y="504748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*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83880" y="4974336"/>
            <a:ext cx="886967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Location Score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83880" y="5294376"/>
            <a:ext cx="886967" cy="12801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&lt;= 1 km = perfect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619488" y="4791456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820656" y="4974336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93808" y="504748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*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24160" y="4974336"/>
            <a:ext cx="886967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Medical Compatibility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24160" y="5294376"/>
            <a:ext cx="886967" cy="12801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Tags vs specialization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326880" y="1463040"/>
            <a:ext cx="214884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8000" dist="13000" dir="5400000" algn="ctr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73768" y="1737360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Ranked Providers</a:t>
            </a:r>
          </a:p>
        </p:txBody>
      </p:sp>
      <p:sp>
        <p:nvSpPr>
          <p:cNvPr id="86" name="Oval 85"/>
          <p:cNvSpPr/>
          <p:nvPr/>
        </p:nvSpPr>
        <p:spPr>
          <a:xfrm>
            <a:off x="9601200" y="2331720"/>
            <a:ext cx="347472" cy="3474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76688" y="2368296"/>
            <a:ext cx="822960" cy="12801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Segoe UI"/>
              </a:rPr>
              <a:t>Dr. Ahmed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27080" y="2377440"/>
            <a:ext cx="292608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0.92</a:t>
            </a:r>
          </a:p>
        </p:txBody>
      </p:sp>
      <p:sp>
        <p:nvSpPr>
          <p:cNvPr id="89" name="Oval 88"/>
          <p:cNvSpPr/>
          <p:nvPr/>
        </p:nvSpPr>
        <p:spPr>
          <a:xfrm>
            <a:off x="9601200" y="3081527"/>
            <a:ext cx="347472" cy="3474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76688" y="3118103"/>
            <a:ext cx="822960" cy="12801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Segoe UI"/>
              </a:rPr>
              <a:t>Nurse Lina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3127247"/>
            <a:ext cx="292608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0.88</a:t>
            </a:r>
          </a:p>
        </p:txBody>
      </p:sp>
      <p:sp>
        <p:nvSpPr>
          <p:cNvPr id="92" name="Oval 91"/>
          <p:cNvSpPr/>
          <p:nvPr/>
        </p:nvSpPr>
        <p:spPr>
          <a:xfrm>
            <a:off x="9601200" y="3831335"/>
            <a:ext cx="347472" cy="34747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76688" y="3867911"/>
            <a:ext cx="822960" cy="12801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Segoe UI"/>
              </a:rPr>
              <a:t>Dr. Sara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27080" y="3877055"/>
            <a:ext cx="292608" cy="11887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0.81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610" dur="indefinite" restart="whenNotActive" nodeType="tmRoot">
          <p:childTnLst>
            <p:seq concurrent="1" nextAc="seek">
              <p:cTn id="9611" dur="indefinite" nodeType="mainSeq">
                <p:childTnLst>
                  <p:par>
                    <p:cTn id="461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610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11" presetID="10" presetClass="entr" presetSubtype="0" fill="hold" nodeType="clickEffect">
                      <p:stCondLst>
                        <p:cond delay="80"/>
                      </p:stCondLst>
                      <p:childTnLst>
                        <p:set>
                          <p:cBhvr>
                            <p:cTn id="5611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12" presetID="10" presetClass="entr" presetSubtype="0" fill="hold" nodeType="clickEffect">
                      <p:stCondLst>
                        <p:cond delay="160"/>
                      </p:stCondLst>
                      <p:childTnLst>
                        <p:set>
                          <p:cBhvr>
                            <p:cTn id="5612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13" presetID="10" presetClass="entr" presetSubtype="0" fill="hold" nodeType="clickEffect">
                      <p:stCondLst>
                        <p:cond delay="240"/>
                      </p:stCondLst>
                      <p:childTnLst>
                        <p:set>
                          <p:cBhvr>
                            <p:cTn id="5613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14" presetID="10" presetClass="entr" presetSubtype="0" fill="hold" nodeType="clickEffect">
                      <p:stCondLst>
                        <p:cond delay="320"/>
                      </p:stCondLst>
                      <p:childTnLst>
                        <p:set>
                          <p:cBhvr>
                            <p:cTn id="561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15"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id="561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16" presetID="10" presetClass="entr" presetSubtype="0" fill="hold" nodeType="clickEffect">
                      <p:stCondLst>
                        <p:cond delay="480"/>
                      </p:stCondLst>
                      <p:childTnLst>
                        <p:set>
                          <p:cBhvr>
                            <p:cTn id="5616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188720" y="4754880"/>
            <a:ext cx="2926080" cy="2011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480560"/>
            <a:ext cx="384048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8428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428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8428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428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1984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01984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9688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9688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9688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7392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37392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7392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37392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5096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55096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5096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480560" cy="2834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84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USER JOURNEY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3504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Booking Workflow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1874519"/>
            <a:ext cx="148132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6968" y="2057399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2130551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0472" y="2057399"/>
            <a:ext cx="4937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Provider Discovery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0472" y="2377439"/>
            <a:ext cx="493776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Patient searches or uses AI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203704" y="2487168"/>
            <a:ext cx="27432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560320" y="1874519"/>
            <a:ext cx="148132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61488" y="2057399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2130551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4992" y="2057399"/>
            <a:ext cx="4937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Date &amp; 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64992" y="2377439"/>
            <a:ext cx="493776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Availability + blocked slots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078224" y="2487168"/>
            <a:ext cx="27432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434840" y="1874519"/>
            <a:ext cx="148132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636008" y="2057399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9160" y="2130551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39512" y="2057399"/>
            <a:ext cx="4937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Location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9512" y="2377439"/>
            <a:ext cx="493776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Home address and map context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52744" y="2487168"/>
            <a:ext cx="27432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309359" y="1874519"/>
            <a:ext cx="148132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510527" y="2057399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79" y="2130551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4031" y="2057399"/>
            <a:ext cx="4937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4031" y="2377439"/>
            <a:ext cx="493776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Request details and duplicate check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827263" y="2487168"/>
            <a:ext cx="27432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183879" y="1874519"/>
            <a:ext cx="148132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385047" y="2057399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199" y="2130551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8551" y="2057399"/>
            <a:ext cx="4937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Payment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8551" y="2377439"/>
            <a:ext cx="493776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Payment status captured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701783" y="2487168"/>
            <a:ext cx="27432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10058400" y="1874519"/>
            <a:ext cx="148132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259568" y="2057399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32720" y="2130551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63072" y="2057399"/>
            <a:ext cx="493776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Approval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63072" y="2377439"/>
            <a:ext cx="493776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Provider accepts and visit starts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0120" y="4617720"/>
            <a:ext cx="10241280" cy="731520"/>
          </a:xfrm>
          <a:prstGeom prst="roundRect">
            <a:avLst>
              <a:gd name="adj" fmla="val 30000"/>
            </a:avLst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34440" y="4864608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Segoe UI"/>
              </a:rPr>
              <a:t>Guardrails: duplicate booking checks - reschedule requests - cancellation/refund policy - notifications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620" dur="indefinite" restart="whenNotActive" nodeType="tmRoot">
          <p:childTnLst>
            <p:seq concurrent="1" nextAc="seek">
              <p:cTn id="9621" dur="indefinite" nodeType="mainSeq">
                <p:childTnLst>
                  <p:par>
                    <p:cTn id="462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620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21" presetID="10" presetClass="entr" presetSubtype="0" fill="hold" nodeType="clickEffect">
                      <p:stCondLst>
                        <p:cond delay="80"/>
                      </p:stCondLst>
                      <p:childTnLst>
                        <p:set>
                          <p:cBhvr>
                            <p:cTn id="5621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22" presetID="10" presetClass="entr" presetSubtype="0" fill="hold" nodeType="clickEffect">
                      <p:stCondLst>
                        <p:cond delay="160"/>
                      </p:stCondLst>
                      <p:childTnLst>
                        <p:set>
                          <p:cBhvr>
                            <p:cTn id="5622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23" presetID="10" presetClass="entr" presetSubtype="0" fill="hold" nodeType="clickEffect">
                      <p:stCondLst>
                        <p:cond delay="240"/>
                      </p:stCondLst>
                      <p:childTnLst>
                        <p:set>
                          <p:cBhvr>
                            <p:cTn id="5623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24" presetID="10" presetClass="entr" presetSubtype="0" fill="hold" nodeType="clickEffect">
                      <p:stCondLst>
                        <p:cond delay="320"/>
                      </p:stCondLst>
                      <p:childTnLst>
                        <p:set>
                          <p:cBhvr>
                            <p:cTn id="562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25"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id="562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26" presetID="10" presetClass="entr" presetSubtype="0" fill="hold" nodeType="clickEffect">
                      <p:stCondLst>
                        <p:cond delay="480"/>
                      </p:stCondLst>
                      <p:childTnLst>
                        <p:set>
                          <p:cBhvr>
                            <p:cTn id="5626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188720" y="4754880"/>
            <a:ext cx="2926080" cy="2011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480560"/>
            <a:ext cx="384048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8428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428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8428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428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1984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01984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9688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9688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9688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7392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37392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7392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37392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5096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55096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5096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480560" cy="2834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84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HOW IT'S BUILT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3504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System Architecture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1325880"/>
            <a:ext cx="2212848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2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15819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2057400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Patient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" y="2450592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Doctor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" y="2843784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Nurse 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" y="3236976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Admin Panel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935224" y="3246120"/>
            <a:ext cx="539496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566160" y="1325880"/>
            <a:ext cx="2212848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2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67328" y="15819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REST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0208" y="2057400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/patient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2450592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/doctor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50208" y="2843784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/nurse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50208" y="3236976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/admin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50208" y="3630168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/providers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0208" y="4023360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/payments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50208" y="4416552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/recommendations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50208" y="4809744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/chat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815584" y="3246120"/>
            <a:ext cx="539496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446520" y="1325880"/>
            <a:ext cx="2212848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2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47688" y="15819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Backend Services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2057400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Node.js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0568" y="2450592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Express.js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2843784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JWT Auth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3236976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Multer uploads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0568" y="3630168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Policy services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695944" y="3246120"/>
            <a:ext cx="539496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326880" y="1325880"/>
            <a:ext cx="2212848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2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28048" y="15819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Database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10928" y="2057400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MySQL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10928" y="2450592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users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10928" y="2843784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appointments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10928" y="3236976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payments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10928" y="3630168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medical records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10928" y="4023360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Segoe UI"/>
              </a:rPr>
              <a:t>wallets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2960" y="5687568"/>
            <a:ext cx="2157984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24128" y="587044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280" y="594360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API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27632" y="5870448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HTTPS Communication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566160" y="5687568"/>
            <a:ext cx="2157984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767328" y="587044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40480" y="594360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OK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70832" y="5870448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Auth &amp; Authorization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09360" y="5687568"/>
            <a:ext cx="2157984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510528" y="587044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83680" y="594360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FS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14032" y="5870448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File Storage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052560" y="5687568"/>
            <a:ext cx="2157984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53728" y="587044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326880" y="594360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RT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57232" y="5870448"/>
            <a:ext cx="1170432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Real-time Notifications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630" dur="indefinite" restart="whenNotActive" nodeType="tmRoot">
          <p:childTnLst>
            <p:seq concurrent="1" nextAc="seek">
              <p:cTn id="9631" dur="indefinite" nodeType="mainSeq">
                <p:childTnLst>
                  <p:par>
                    <p:cTn id="463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630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31" presetID="10" presetClass="entr" presetSubtype="0" fill="hold" nodeType="clickEffect">
                      <p:stCondLst>
                        <p:cond delay="80"/>
                      </p:stCondLst>
                      <p:childTnLst>
                        <p:set>
                          <p:cBhvr>
                            <p:cTn id="5631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32" presetID="10" presetClass="entr" presetSubtype="0" fill="hold" nodeType="clickEffect">
                      <p:stCondLst>
                        <p:cond delay="160"/>
                      </p:stCondLst>
                      <p:childTnLst>
                        <p:set>
                          <p:cBhvr>
                            <p:cTn id="5632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33" presetID="10" presetClass="entr" presetSubtype="0" fill="hold" nodeType="clickEffect">
                      <p:stCondLst>
                        <p:cond delay="240"/>
                      </p:stCondLst>
                      <p:childTnLst>
                        <p:set>
                          <p:cBhvr>
                            <p:cTn id="5633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34" presetID="10" presetClass="entr" presetSubtype="0" fill="hold" nodeType="clickEffect">
                      <p:stCondLst>
                        <p:cond delay="320"/>
                      </p:stCondLst>
                      <p:childTnLst>
                        <p:set>
                          <p:cBhvr>
                            <p:cTn id="563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35"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id="563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36" presetID="10" presetClass="entr" presetSubtype="0" fill="hold" nodeType="clickEffect">
                      <p:stCondLst>
                        <p:cond delay="480"/>
                      </p:stCondLst>
                      <p:childTnLst>
                        <p:set>
                          <p:cBhvr>
                            <p:cTn id="5636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188720" y="4754880"/>
            <a:ext cx="2926080" cy="2011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480560"/>
            <a:ext cx="384048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8428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428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8428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428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1984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01984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9688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9688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9688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7392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37392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7392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37392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5096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55096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5096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480560" cy="2834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84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THE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3504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Technologies Used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1353312"/>
            <a:ext cx="2304288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0000" dist="11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1627632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Segoe UI"/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203704"/>
            <a:ext cx="2304288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Flutter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468880"/>
            <a:ext cx="2304288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Dart mobile UI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20440" y="1353312"/>
            <a:ext cx="2304288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0000" dist="11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1627632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500" b="1">
                <a:solidFill>
                  <a:srgbClr val="10B981"/>
                </a:solidFill>
                <a:latin typeface="Segoe UI"/>
              </a:rPr>
              <a:t>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2203704"/>
            <a:ext cx="2304288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Node.js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2468880"/>
            <a:ext cx="2304288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Backend runtime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1353312"/>
            <a:ext cx="2304288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0000" dist="11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1627632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Segoe UI"/>
              </a:rPr>
              <a:t>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203704"/>
            <a:ext cx="2304288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Express.js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2468880"/>
            <a:ext cx="2304288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REST API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9720" y="1353312"/>
            <a:ext cx="2304288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0000" dist="11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9720" y="1627632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500" b="1">
                <a:solidFill>
                  <a:srgbClr val="10B981"/>
                </a:solidFill>
                <a:latin typeface="Segoe UI"/>
              </a:rPr>
              <a:t>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2203704"/>
            <a:ext cx="2304288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MySQL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2468880"/>
            <a:ext cx="2304288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Database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3456432"/>
            <a:ext cx="2304288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0000" dist="11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3730752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Segoe UI"/>
              </a:rPr>
              <a:t>J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306824"/>
            <a:ext cx="2304288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JWT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4572000"/>
            <a:ext cx="2304288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Authentication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20440" y="3456432"/>
            <a:ext cx="2304288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0000" dist="11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0440" y="3730752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500" b="1">
                <a:solidFill>
                  <a:srgbClr val="10B981"/>
                </a:solidFill>
                <a:latin typeface="Segoe UI"/>
              </a:rPr>
              <a:t>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0440" y="4306824"/>
            <a:ext cx="2304288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Multer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0440" y="4572000"/>
            <a:ext cx="2304288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File uploads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5080" y="3456432"/>
            <a:ext cx="2304288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0000" dist="11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3730752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Segoe UI"/>
              </a:rPr>
              <a:t>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4306824"/>
            <a:ext cx="2304288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Firebase FCM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4572000"/>
            <a:ext cx="2304288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Planned notifications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89720" y="3456432"/>
            <a:ext cx="2304288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0000" dist="11000" dir="5400000" algn="ctr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89720" y="3730752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500" b="1">
                <a:solidFill>
                  <a:srgbClr val="10B981"/>
                </a:solidFill>
                <a:latin typeface="Segoe UI"/>
              </a:rPr>
              <a:t>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9720" y="4306824"/>
            <a:ext cx="2304288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GitHub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9720" y="4572000"/>
            <a:ext cx="2304288" cy="137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Version control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640" dur="indefinite" restart="whenNotActive" nodeType="tmRoot">
          <p:childTnLst>
            <p:seq concurrent="1" nextAc="seek">
              <p:cTn id="9641" dur="indefinite" nodeType="mainSeq">
                <p:childTnLst>
                  <p:par>
                    <p:cTn id="464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640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41" presetID="10" presetClass="entr" presetSubtype="0" fill="hold" nodeType="clickEffect">
                      <p:stCondLst>
                        <p:cond delay="80"/>
                      </p:stCondLst>
                      <p:childTnLst>
                        <p:set>
                          <p:cBhvr>
                            <p:cTn id="5641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42" presetID="10" presetClass="entr" presetSubtype="0" fill="hold" nodeType="clickEffect">
                      <p:stCondLst>
                        <p:cond delay="160"/>
                      </p:stCondLst>
                      <p:childTnLst>
                        <p:set>
                          <p:cBhvr>
                            <p:cTn id="5642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43" presetID="10" presetClass="entr" presetSubtype="0" fill="hold" nodeType="clickEffect">
                      <p:stCondLst>
                        <p:cond delay="240"/>
                      </p:stCondLst>
                      <p:childTnLst>
                        <p:set>
                          <p:cBhvr>
                            <p:cTn id="5643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44" presetID="10" presetClass="entr" presetSubtype="0" fill="hold" nodeType="clickEffect">
                      <p:stCondLst>
                        <p:cond delay="320"/>
                      </p:stCondLst>
                      <p:childTnLst>
                        <p:set>
                          <p:cBhvr>
                            <p:cTn id="564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45"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id="564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46" presetID="10" presetClass="entr" presetSubtype="0" fill="hold" nodeType="clickEffect">
                      <p:stCondLst>
                        <p:cond delay="480"/>
                      </p:stCondLst>
                      <p:childTnLst>
                        <p:set>
                          <p:cBhvr>
                            <p:cTn id="5646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188720" y="4754880"/>
            <a:ext cx="2926080" cy="2011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480560"/>
            <a:ext cx="384048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8428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428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8428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428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1984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01984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9688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9688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9688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7392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37392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7392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37392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5096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55096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5096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480560" cy="2834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84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WHAT'S 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3504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Future Roadmap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213055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0">
                <a:solidFill>
                  <a:srgbClr val="0F766E"/>
                </a:solidFill>
                <a:latin typeface="Segoe UI"/>
              </a:rPr>
              <a:t>$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426464" y="2304288"/>
            <a:ext cx="1773936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30632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" y="3337560"/>
            <a:ext cx="1664208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40" b="1">
                <a:solidFill>
                  <a:srgbClr val="0F172A"/>
                </a:solidFill>
                <a:latin typeface="Segoe UI"/>
              </a:rPr>
              <a:t>Real Payment Gateway
Stripe / HyperPay</a:t>
            </a:r>
          </a:p>
        </p:txBody>
      </p:sp>
      <p:sp>
        <p:nvSpPr>
          <p:cNvPr id="37" name="Oval 36"/>
          <p:cNvSpPr/>
          <p:nvPr/>
        </p:nvSpPr>
        <p:spPr>
          <a:xfrm>
            <a:off x="3749039" y="205740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22191" y="213055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0">
                <a:solidFill>
                  <a:srgbClr val="0F766E"/>
                </a:solidFill>
                <a:latin typeface="Segoe UI"/>
              </a:rPr>
              <a:t>VID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261103" y="2304288"/>
            <a:ext cx="1773936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20439" y="30632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2026+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72967" y="3337560"/>
            <a:ext cx="1664208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40" b="1">
                <a:solidFill>
                  <a:srgbClr val="0F172A"/>
                </a:solidFill>
                <a:latin typeface="Segoe UI"/>
              </a:rPr>
              <a:t>Video Consultation
Telemedicine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6832" y="213055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0">
                <a:solidFill>
                  <a:srgbClr val="0F766E"/>
                </a:solidFill>
                <a:latin typeface="Segoe UI"/>
              </a:rPr>
              <a:t>HW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095744" y="2304288"/>
            <a:ext cx="1773936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355080" y="30632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2026+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07608" y="3337560"/>
            <a:ext cx="1664208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40" b="1">
                <a:solidFill>
                  <a:srgbClr val="0F172A"/>
                </a:solidFill>
                <a:latin typeface="Segoe UI"/>
              </a:rPr>
              <a:t>Wearables &amp;
Health Monitoring</a:t>
            </a:r>
          </a:p>
        </p:txBody>
      </p:sp>
      <p:sp>
        <p:nvSpPr>
          <p:cNvPr id="47" name="Oval 46"/>
          <p:cNvSpPr/>
          <p:nvPr/>
        </p:nvSpPr>
        <p:spPr>
          <a:xfrm>
            <a:off x="9418320" y="2057400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91472" y="213055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0">
                <a:solidFill>
                  <a:srgbClr val="0F766E"/>
                </a:solidFill>
                <a:latin typeface="Segoe UI"/>
              </a:rPr>
              <a:t>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3063240"/>
            <a:ext cx="96012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2026+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42248" y="3337560"/>
            <a:ext cx="1664208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40" b="1">
                <a:solidFill>
                  <a:srgbClr val="0F172A"/>
                </a:solidFill>
                <a:latin typeface="Segoe UI"/>
              </a:rPr>
              <a:t>AI Predictive
Health Insights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650" dur="indefinite" restart="whenNotActive" nodeType="tmRoot">
          <p:childTnLst>
            <p:seq concurrent="1" nextAc="seek">
              <p:cTn id="9651" dur="indefinite" nodeType="mainSeq">
                <p:childTnLst>
                  <p:par>
                    <p:cTn id="465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650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51" presetID="10" presetClass="entr" presetSubtype="0" fill="hold" nodeType="clickEffect">
                      <p:stCondLst>
                        <p:cond delay="80"/>
                      </p:stCondLst>
                      <p:childTnLst>
                        <p:set>
                          <p:cBhvr>
                            <p:cTn id="5651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52" presetID="10" presetClass="entr" presetSubtype="0" fill="hold" nodeType="clickEffect">
                      <p:stCondLst>
                        <p:cond delay="160"/>
                      </p:stCondLst>
                      <p:childTnLst>
                        <p:set>
                          <p:cBhvr>
                            <p:cTn id="5652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53" presetID="10" presetClass="entr" presetSubtype="0" fill="hold" nodeType="clickEffect">
                      <p:stCondLst>
                        <p:cond delay="240"/>
                      </p:stCondLst>
                      <p:childTnLst>
                        <p:set>
                          <p:cBhvr>
                            <p:cTn id="5653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54" presetID="10" presetClass="entr" presetSubtype="0" fill="hold" nodeType="clickEffect">
                      <p:stCondLst>
                        <p:cond delay="320"/>
                      </p:stCondLst>
                      <p:childTnLst>
                        <p:set>
                          <p:cBhvr>
                            <p:cTn id="565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55"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id="565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56" presetID="10" presetClass="entr" presetSubtype="0" fill="hold" nodeType="clickEffect">
                      <p:stCondLst>
                        <p:cond delay="480"/>
                      </p:stCondLst>
                      <p:childTnLst>
                        <p:set>
                          <p:cBhvr>
                            <p:cTn id="5656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188720" y="4754880"/>
            <a:ext cx="2926080" cy="2011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480560"/>
            <a:ext cx="384048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8428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428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8428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428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1984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01984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9688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9688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9688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7392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37392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7392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37392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5096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55096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5096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480560" cy="2834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840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Segoe UI"/>
              </a:rPr>
              <a:t>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3504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CareLink at a Glance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1664208"/>
            <a:ext cx="1874519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6968" y="184708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192024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0472" y="1847088"/>
            <a:ext cx="886967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AI-Powered Matching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0472" y="2167128"/>
            <a:ext cx="886967" cy="6766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Smarter care connections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0" y="1664208"/>
            <a:ext cx="1874519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218688" y="184708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192024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$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2192" y="1847088"/>
            <a:ext cx="886967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Secure Payments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22192" y="2167128"/>
            <a:ext cx="886967" cy="6766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Governed and protected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49240" y="1664208"/>
            <a:ext cx="1874519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50408" y="184708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23560" y="192024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53912" y="1847088"/>
            <a:ext cx="886967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Smart Booking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3912" y="2167128"/>
            <a:ext cx="886967" cy="6766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Real-time conflict-free flow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80959" y="1664208"/>
            <a:ext cx="1874519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882127" y="184708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79" y="192024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MR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1" y="1847088"/>
            <a:ext cx="886967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Medical Records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1" y="2167128"/>
            <a:ext cx="886967" cy="6766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Structured continuous care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12680" y="1664208"/>
            <a:ext cx="1874519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blurRad="42000" dist="14000" dir="5400000" algn="ctr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213848" y="1847088"/>
            <a:ext cx="502920" cy="5029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87000" y="192024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700" b="0">
                <a:solidFill>
                  <a:srgbClr val="0F766E"/>
                </a:solidFill>
                <a:latin typeface="Segoe UI"/>
              </a:rPr>
              <a:t>PT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17352" y="1847088"/>
            <a:ext cx="886967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Better Healthcare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17352" y="2167128"/>
            <a:ext cx="886967" cy="6766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Accessible, trusted, human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43000" y="5074920"/>
            <a:ext cx="9921240" cy="502920"/>
          </a:xfrm>
          <a:prstGeom prst="roundRect">
            <a:avLst>
              <a:gd name="adj" fmla="val 35000"/>
            </a:avLst>
          </a:prstGeom>
          <a:solidFill>
            <a:srgbClr val="ECFEFF"/>
          </a:solidFill>
          <a:ln w="12700">
            <a:solidFill>
              <a:srgbClr val="B6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71600" y="5239512"/>
            <a:ext cx="9464040" cy="14630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Segoe UI"/>
              </a:rPr>
              <a:t>CareLink is building the future of home healthcare.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9660" dur="indefinite" restart="whenNotActive" nodeType="tmRoot">
          <p:childTnLst>
            <p:seq concurrent="1" nextAc="seek">
              <p:cTn id="9661" dur="indefinite" nodeType="mainSeq">
                <p:childTnLst>
                  <p:par>
                    <p:cTn id="466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660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61" presetID="10" presetClass="entr" presetSubtype="0" fill="hold" nodeType="clickEffect">
                      <p:stCondLst>
                        <p:cond delay="80"/>
                      </p:stCondLst>
                      <p:childTnLst>
                        <p:set>
                          <p:cBhvr>
                            <p:cTn id="5661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62" presetID="10" presetClass="entr" presetSubtype="0" fill="hold" nodeType="clickEffect">
                      <p:stCondLst>
                        <p:cond delay="160"/>
                      </p:stCondLst>
                      <p:childTnLst>
                        <p:set>
                          <p:cBhvr>
                            <p:cTn id="5662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63" presetID="10" presetClass="entr" presetSubtype="0" fill="hold" nodeType="clickEffect">
                      <p:stCondLst>
                        <p:cond delay="240"/>
                      </p:stCondLst>
                      <p:childTnLst>
                        <p:set>
                          <p:cBhvr>
                            <p:cTn id="5663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64" presetID="10" presetClass="entr" presetSubtype="0" fill="hold" nodeType="clickEffect">
                      <p:stCondLst>
                        <p:cond delay="320"/>
                      </p:stCondLst>
                      <p:childTnLst>
                        <p:set>
                          <p:cBhvr>
                            <p:cTn id="566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65"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id="566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66" presetID="10" presetClass="entr" presetSubtype="0" fill="hold" nodeType="clickEffect">
                      <p:stCondLst>
                        <p:cond delay="480"/>
                      </p:stCondLst>
                      <p:childTnLst>
                        <p:set>
                          <p:cBhvr>
                            <p:cTn id="5666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-1188720" y="4754880"/>
            <a:ext cx="2926080" cy="20116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480560"/>
            <a:ext cx="384048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8428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428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8428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428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01984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01984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1984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19688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19688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9688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37392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37392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7392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37392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5096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55096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55096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66928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84632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02335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20040"/>
            <a:ext cx="13716" cy="137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480560" cy="283464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arelink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1783080" cy="5029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9808" y="2084831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400" b="1">
                <a:solidFill>
                  <a:srgbClr val="0F766E"/>
                </a:solidFill>
                <a:latin typeface="Segoe UI"/>
              </a:rPr>
              <a:t>Thank You!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2944368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</a:rPr>
              <a:t>AI-Powered Home Healthcare, Redefined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3703320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Any Questions?</a:t>
            </a:r>
          </a:p>
        </p:txBody>
      </p:sp>
      <p:pic>
        <p:nvPicPr>
          <p:cNvPr id="34" name="Picture 33" descr="login_brand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868680"/>
            <a:ext cx="4069080" cy="4480560"/>
          </a:xfrm>
          <a:prstGeom prst="rect">
            <a:avLst/>
          </a:prstGeom>
          <a:effectLst>
            <a:outerShdw blurRad="52000" dist="14000" dir="5400000" algn="ctr" rotWithShape="0">
              <a:srgbClr val="0F172A">
                <a:alpha val="12000"/>
              </a:srgbClr>
            </a:outerShdw>
          </a:effectLst>
        </p:spPr>
      </p:pic>
    </p:spTree>
  </p:cSld>
  <p:clrMapOvr>
    <a:masterClrMapping/>
  </p:clrMapOvr>
  <p:transition spd="med" advClick="1">
    <p:fade/>
  </p:transition>
  <p:timing>
    <p:tnLst>
      <p:par>
        <p:cTn id="9670" dur="indefinite" restart="whenNotActive" nodeType="tmRoot">
          <p:childTnLst>
            <p:seq concurrent="1" nextAc="seek">
              <p:cTn id="9671" dur="indefinite" nodeType="mainSeq">
                <p:childTnLst>
                  <p:par>
                    <p:cTn id="467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670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71" presetID="10" presetClass="entr" presetSubtype="0" fill="hold" nodeType="clickEffect">
                      <p:stCondLst>
                        <p:cond delay="80"/>
                      </p:stCondLst>
                      <p:childTnLst>
                        <p:set>
                          <p:cBhvr>
                            <p:cTn id="5671" dur="1" fill="hold"/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72" presetID="10" presetClass="entr" presetSubtype="0" fill="hold" nodeType="clickEffect">
                      <p:stCondLst>
                        <p:cond delay="160"/>
                      </p:stCondLst>
                      <p:childTnLst>
                        <p:set>
                          <p:cBhvr>
                            <p:cTn id="5672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73" presetID="10" presetClass="entr" presetSubtype="0" fill="hold" nodeType="clickEffect">
                      <p:stCondLst>
                        <p:cond delay="240"/>
                      </p:stCondLst>
                      <p:childTnLst>
                        <p:set>
                          <p:cBhvr>
                            <p:cTn id="5673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74" presetID="10" presetClass="entr" presetSubtype="0" fill="hold" nodeType="clickEffect">
                      <p:stCondLst>
                        <p:cond delay="320"/>
                      </p:stCondLst>
                      <p:childTnLst>
                        <p:set>
                          <p:cBhvr>
                            <p:cTn id="567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75"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id="5675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  <p:par>
                    <p:cTn id="4676" presetID="10" presetClass="entr" presetSubtype="0" fill="hold" nodeType="clickEffect">
                      <p:stCondLst>
                        <p:cond delay="480"/>
                      </p:stCondLst>
                      <p:childTnLst>
                        <p:set>
                          <p:cBhvr>
                            <p:cTn id="5676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/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