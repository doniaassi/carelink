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12344D"/>
              </a:gs>
              <a:gs pos="100000">
                <a:srgbClr val="1E293B"/>
              </a:gs>
            </a:gsLst>
            <a:lin ang="90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1645920"/>
            <a:ext cx="5120640" cy="5120640"/>
          </a:xfrm>
          <a:prstGeom prst="ellipse">
            <a:avLst/>
          </a:prstGeom>
          <a:solidFill>
            <a:srgbClr val="DB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34472" y="-2011680"/>
            <a:ext cx="4023360" cy="4023360"/>
          </a:xfrm>
          <a:prstGeom prst="ellipse">
            <a:avLst/>
          </a:prstGeom>
          <a:solidFill>
            <a:srgbClr val="D2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212080"/>
            <a:ext cx="3657600" cy="3657600"/>
          </a:xfrm>
          <a:prstGeom prst="ellipse">
            <a:avLst/>
          </a:prstGeom>
          <a:solidFill>
            <a:srgbClr val="DF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5400000" scaled="0"/>
          </a:gradFill>
          <a:xfrm>
            <a:off x="0" y="0"/>
            <a:ext cx="9144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06840" y="1234440"/>
            <a:ext cx="1920240" cy="1920240"/>
          </a:xfrm>
          <a:prstGeom prst="ellipse">
            <a:avLst/>
          </a:prstGeom>
          <a:noFill/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32520" y="960120"/>
            <a:ext cx="2468880" cy="2468880"/>
          </a:xfrm>
          <a:prstGeom prst="ellipse">
            <a:avLst/>
          </a:prstGeom>
          <a:noFill/>
          <a:ln w="1016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5400000" scaled="0"/>
          </a:gradFill>
          <a:xfrm>
            <a:off x="9884664" y="1920240"/>
            <a:ext cx="164592" cy="5486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0" scaled="0"/>
          </a:gradFill>
          <a:xfrm>
            <a:off x="9692640" y="2112264"/>
            <a:ext cx="548640" cy="1645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Calibri"/>
              </a:rPr>
              <a:t>CareLink</a:t>
            </a:r>
          </a:p>
        </p:txBody>
      </p:sp>
      <p:sp>
        <p:nvSpPr>
          <p:cNvPr id="12" name="Rectangle 11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77240" y="2880360"/>
            <a:ext cx="4389120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F3D0"/>
                </a:solidFill>
                <a:latin typeface="Calibri"/>
              </a:rPr>
              <a:t>AI-Powered Home Healthcare, Redefined</a:t>
            </a:r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777240" y="3749039"/>
            <a:ext cx="1783080" cy="384048"/>
          </a:xfrm>
          <a:solidFill>
            <a:srgbClr val="0C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822191"/>
            <a:ext cx="237744" cy="237744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78561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D1C5"/>
                </a:solidFill>
                <a:latin typeface="Calibri"/>
              </a:rPr>
              <a:t>Patient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2743200" y="3749039"/>
            <a:ext cx="1783080" cy="384048"/>
          </a:xfrm>
          <a:solidFill>
            <a:srgbClr val="0C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80360" y="3822191"/>
            <a:ext cx="237744" cy="2377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78561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Doctor</a:t>
            </a:r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4709160" y="3749039"/>
            <a:ext cx="1783080" cy="384048"/>
          </a:xfrm>
          <a:solidFill>
            <a:srgbClr val="0C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3822191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78561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Nurse</a:t>
            </a:r>
          </a:p>
        </p:txBody>
      </p:sp>
      <p:sp>
        <p:nvSpPr>
          <p:cNvPr id="23" name="Rectangle 2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6675120" y="3749039"/>
            <a:ext cx="1783080" cy="384048"/>
          </a:xfrm>
          <a:solidFill>
            <a:srgbClr val="0C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80" y="3822191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785615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Admin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315968"/>
            <a:ext cx="10515600" cy="18288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prstGeom prst="roundRect">
            <a:avLst>
              <a:gd name="adj" fmla="val 20000"/>
            </a:avLst>
          </a:prstGeom>
          <a:xfrm>
            <a:off x="640080" y="4480560"/>
            <a:ext cx="10881360" cy="2011680"/>
          </a:xfrm>
          <a:solidFill>
            <a:srgbClr val="0C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2686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Graduation Project  ·  Faculty of Engineering  ·  Computer Science Department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05663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Supervised by:  [Dr. Supervisor Name]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Calibri"/>
              </a:rPr>
              <a:t>Team:  [Team Member Names]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91616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Academic Year 2025 – 2026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5633" dur="indefinite" restart="whenNotActive" nodeType="tmRoot">
          <p:childTnLst>
            <p:seq concurrent="1" nextAc="seek">
              <p:cTn id="25634" dur="indefinite" nodeType="mainSeq">
                <p:childTnLst>
                  <p:par>
                    <p:cTn id="25635" fill="hold">
                      <p:stCondLst>
                        <p:cond delay="0"/>
                      </p:stCondLst>
                      <p:childTnLst>
                        <p:par>
                          <p:cTn id="25601" fill="hold">
                            <p:stCondLst>
                              <p:cond delay="0"/>
                            </p:stCondLst>
                            <p:childTnLst>
                              <p:par>
                                <p:cTn id="256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603" presetID="10" presetClass="entr" presetSubtype="0" fill="hold" grpId="25601" nodeType="withPrevious" dur="7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04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05" fill="hold">
                            <p:stCondLst>
                              <p:cond delay="200"/>
                            </p:stCondLst>
                            <p:childTnLst>
                              <p:par>
                                <p:cTn id="256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607" presetID="10" presetClass="entr" presetSubtype="0" fill="hold" grpId="25605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08" dur="1" fill="hold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09" fill="hold">
                            <p:stCondLst>
                              <p:cond delay="350"/>
                            </p:stCondLst>
                            <p:childTnLst>
                              <p:par>
                                <p:cTn id="256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611" presetID="10" presetClass="entr" presetSubtype="0" fill="hold" grpId="25609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12" dur="1" fill="hold"/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13" fill="hold">
                            <p:stCondLst>
                              <p:cond delay="500"/>
                            </p:stCondLst>
                            <p:childTnLst>
                              <p:par>
                                <p:cTn id="256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615" presetID="10" presetClass="entr" presetSubtype="0" fill="hold" grpId="25613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16" dur="1" fill="hold"/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17" fill="hold">
                            <p:stCondLst>
                              <p:cond delay="600"/>
                            </p:stCondLst>
                            <p:childTnLst>
                              <p:par>
                                <p:cTn id="256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619" presetID="10" presetClass="entr" presetSubtype="0" fill="hold" grpId="25617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20" dur="1" fill="hold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21" fill="hold">
                            <p:stCondLst>
                              <p:cond delay="700"/>
                            </p:stCondLst>
                            <p:childTnLst>
                              <p:par>
                                <p:cTn id="256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623" presetID="10" presetClass="entr" presetSubtype="0" fill="hold" grpId="25621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24" dur="1" fill="hold"/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25" fill="hold">
                            <p:stCondLst>
                              <p:cond delay="800"/>
                            </p:stCondLst>
                            <p:childTnLst>
                              <p:par>
                                <p:cTn id="256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627" presetID="10" presetClass="entr" presetSubtype="0" fill="hold" grpId="25625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28" dur="1" fill="hold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29" fill="hold">
                            <p:stCondLst>
                              <p:cond delay="900"/>
                            </p:stCondLst>
                            <p:childTnLst>
                              <p:par>
                                <p:cTn id="256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631" presetID="10" presetClass="entr" presetSubtype="0" fill="hold" grpId="25629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632" dur="1" fill="hold"/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344D"/>
                </a:solidFill>
                <a:latin typeface="Calibri"/>
              </a:rPr>
              <a:t>What is CareLink?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 full-stack mobile platform built for home healthcare delivery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4114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Calibri"/>
              </a:rPr>
              <a:t>CareLink connects patients with verified doctors and nurses through an intelligent, bilingual (Arabic / English) mobile application — featuring AI-driven provider matching, real-time scheduling, structured medical records, in-app chat, and a governed payment system.</a:t>
            </a:r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48640" y="2852928"/>
            <a:ext cx="3566160" cy="3566160"/>
          </a:xfrm>
          <a:solidFill>
            <a:srgbClr val="D1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2788920"/>
            <a:ext cx="3566160" cy="3566160"/>
          </a:xfrm>
          <a:solidFill>
            <a:srgbClr val="F0FDFA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38528" y="3008376"/>
            <a:ext cx="694944" cy="694944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3035808"/>
            <a:ext cx="694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2AC"/>
                </a:solidFill>
                <a:latin typeface="Calibri"/>
              </a:rPr>
              <a:t>Patient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3616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Browse &amp; book care providers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8188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AI-matched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2760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Real-time chat with care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7332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View structured medical records</a:t>
            </a:r>
          </a:p>
        </p:txBody>
      </p:sp>
      <p:sp>
        <p:nvSpPr>
          <p:cNvPr id="18" name="Rectangle 1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325112" y="2852928"/>
            <a:ext cx="3566160" cy="3566160"/>
          </a:xfrm>
          <a:solidFill>
            <a:srgbClr val="D1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279392" y="2788920"/>
            <a:ext cx="3566160" cy="3566160"/>
          </a:xfrm>
          <a:solidFill>
            <a:srgbClr val="ECFE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3008376"/>
            <a:ext cx="694944" cy="6949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035808"/>
            <a:ext cx="694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  <a:latin typeface="Calibri"/>
              </a:rPr>
              <a:t>Doctor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616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Accept / complete requests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188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Manage schedule &amp; 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2760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Submit clinical &amp; diagnosis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7332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Rate-approval gate for activation</a:t>
            </a:r>
          </a:p>
        </p:txBody>
      </p:sp>
      <p:sp>
        <p:nvSpPr>
          <p:cNvPr id="27" name="Rectangle 26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110728" y="2852928"/>
            <a:ext cx="3566160" cy="3566160"/>
          </a:xfrm>
          <a:solidFill>
            <a:srgbClr val="D1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065008" y="2788920"/>
            <a:ext cx="3566160" cy="3566160"/>
          </a:xfr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00616" y="3008376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0616" y="3035808"/>
            <a:ext cx="6949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Nurse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43616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Home-visit service requests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48188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Visit tracking &amp; earnings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52760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Medical report forms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573328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›  Settings &amp; notification prefs</a:t>
            </a:r>
          </a:p>
        </p:txBody>
      </p:sp>
      <p:sp>
        <p:nvSpPr>
          <p:cNvPr id="36" name="Rectangle 35"/>
          <p:cNvSpPr/>
          <p:nvPr/>
        </p:nvSpPr>
        <p:spPr>
          <a:gradFill>
            <a:gsLst>
              <a:gs pos="0">
                <a:srgbClr val="F0FDFA"/>
              </a:gs>
              <a:gs pos="100000">
                <a:srgbClr val="E0F7F4"/>
              </a:gs>
            </a:gsLst>
            <a:lin ang="0" scaled="0"/>
          </a:gradFill>
          <a:xfrm>
            <a:off x="0" y="6172200"/>
            <a:ext cx="12188952" cy="685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6208776"/>
            <a:ext cx="30472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2AC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6556248"/>
            <a:ext cx="3047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User Roles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7238" y="6208776"/>
            <a:ext cx="30472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2AC"/>
                </a:solidFill>
                <a:latin typeface="Calibr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7238" y="6556248"/>
            <a:ext cx="3047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API Route Groups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4476" y="6208776"/>
            <a:ext cx="30472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2AC"/>
                </a:solidFill>
                <a:latin typeface="Calibri"/>
              </a:rPr>
              <a:t>AR / 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4476" y="6556248"/>
            <a:ext cx="3047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Bilingual Interface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1714" y="6208776"/>
            <a:ext cx="30472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2AC"/>
                </a:solidFill>
                <a:latin typeface="Calibri"/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1714" y="6556248"/>
            <a:ext cx="30472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Calibri"/>
              </a:rPr>
              <a:t>Smart Matching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5725" dur="indefinite" restart="whenNotActive" nodeType="tmRoot">
          <p:childTnLst>
            <p:seq concurrent="1" nextAc="seek">
              <p:cTn id="25726" dur="indefinite" nodeType="mainSeq">
                <p:childTnLst>
                  <p:par>
                    <p:cTn id="25727" fill="hold">
                      <p:stCondLst>
                        <p:cond delay="0"/>
                      </p:stCondLst>
                      <p:childTnLst>
                        <p:par>
                          <p:cTn id="25701" fill="hold">
                            <p:stCondLst>
                              <p:cond delay="0"/>
                            </p:stCondLst>
                            <p:childTnLst>
                              <p:par>
                                <p:cTn id="257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03" presetID="10" presetClass="entr" presetSubtype="0" fill="hold" grpId="257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7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05" fill="hold">
                            <p:stCondLst>
                              <p:cond delay="150"/>
                            </p:stCondLst>
                            <p:childTnLst>
                              <p:par>
                                <p:cTn id="257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07" presetID="10" presetClass="entr" presetSubtype="0" fill="hold" grpId="25705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708" dur="1" fill="hold"/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09" fill="hold">
                            <p:stCondLst>
                              <p:cond delay="300"/>
                            </p:stCondLst>
                            <p:childTnLst>
                              <p:par>
                                <p:cTn id="257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11" presetID="10" presetClass="entr" presetSubtype="0" fill="hold" grpId="25709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712" dur="1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13" fill="hold">
                            <p:stCondLst>
                              <p:cond delay="450"/>
                            </p:stCondLst>
                            <p:childTnLst>
                              <p:par>
                                <p:cTn id="257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15" presetID="10" presetClass="entr" presetSubtype="0" fill="hold" grpId="25713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716" dur="1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17" fill="hold">
                            <p:stCondLst>
                              <p:cond delay="580"/>
                            </p:stCondLst>
                            <p:childTnLst>
                              <p:par>
                                <p:cTn id="257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19" presetID="10" presetClass="entr" presetSubtype="0" fill="hold" grpId="25717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720" dur="1" fill="hold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21" fill="hold">
                            <p:stCondLst>
                              <p:cond delay="710"/>
                            </p:stCondLst>
                            <p:childTnLst>
                              <p:par>
                                <p:cTn id="257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723" presetID="10" presetClass="entr" presetSubtype="0" fill="hold" grpId="2572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724" dur="1" fill="hold"/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344D"/>
                </a:solidFill>
                <a:latin typeface="Calibri"/>
              </a:rPr>
              <a:t>Three Gaps in Home Healthcare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4114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12064" y="1947671"/>
            <a:ext cx="3520440" cy="448056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57200" y="1874519"/>
            <a:ext cx="3520440" cy="4480560"/>
          </a:xfrm>
          <a:solidFill>
            <a:srgbClr val="FFF1F4"/>
          </a:solidFill>
          <a:ln w="254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57399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B7185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gradFill>
            <a:gsLst>
              <a:gs pos="0">
                <a:srgbClr val="FB7185"/>
              </a:gs>
              <a:gs pos="100000">
                <a:srgbClr val="FFADC1"/>
              </a:gs>
            </a:gsLst>
            <a:lin ang="5400000" scaled="0"/>
          </a:gradFill>
          <a:xfrm>
            <a:off x="3913632" y="2971799"/>
            <a:ext cx="64008" cy="3200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26079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344D"/>
                </a:solidFill>
                <a:latin typeface="Calibri"/>
              </a:rPr>
              <a:t>No Unified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20439"/>
            <a:ext cx="3118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Patients lacked a single trusted source to discover, verify, and book qualified home-care doctors and nurses — forcing reliance on informal referrals.</a:t>
            </a:r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325112" y="1947671"/>
            <a:ext cx="3520440" cy="448056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270248" y="1874519"/>
            <a:ext cx="3520440" cy="4480560"/>
          </a:xfr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057399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gradFill>
            <a:gsLst>
              <a:gs pos="0">
                <a:srgbClr val="F59E0B"/>
              </a:gs>
              <a:gs pos="100000">
                <a:srgbClr val="FFDA47"/>
              </a:gs>
            </a:gsLst>
            <a:lin ang="5400000" scaled="0"/>
          </a:gradFill>
          <a:xfrm>
            <a:off x="7726680" y="2971799"/>
            <a:ext cx="64008" cy="3200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926079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344D"/>
                </a:solidFill>
                <a:latin typeface="Calibri"/>
              </a:rPr>
              <a:t>Fragmented Scheduling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3520439"/>
            <a:ext cx="3118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 real-time availability checking, no conflict detection, no reschedule workflow. Appointments were lost to double-bookings, no-shows, and no audit trail.</a:t>
            </a:r>
          </a:p>
        </p:txBody>
      </p:sp>
      <p:sp>
        <p:nvSpPr>
          <p:cNvPr id="19" name="Rectangle 1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119872" y="1947671"/>
            <a:ext cx="3520440" cy="448056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065008" y="1874519"/>
            <a:ext cx="3520440" cy="4480560"/>
          </a:xfrm>
          <a:solidFill>
            <a:srgbClr val="EEEFFF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2057399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818CF8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gradFill>
            <a:gsLst>
              <a:gs pos="0">
                <a:srgbClr val="818CF8"/>
              </a:gs>
              <a:gs pos="100000">
                <a:srgbClr val="BDC8FF"/>
              </a:gs>
            </a:gsLst>
            <a:lin ang="5400000" scaled="0"/>
          </a:gradFill>
          <a:xfrm>
            <a:off x="11521440" y="2971799"/>
            <a:ext cx="64008" cy="3200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2926079"/>
            <a:ext cx="3118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344D"/>
                </a:solidFill>
                <a:latin typeface="Calibri"/>
              </a:rPr>
              <a:t>Opaque Payments &amp; No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3520439"/>
            <a:ext cx="31181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No cancellation policy, no provider rate approval gate, no escrow mechanism. Neither patients nor providers had financial protection.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5817" dur="indefinite" restart="whenNotActive" nodeType="tmRoot">
          <p:childTnLst>
            <p:seq concurrent="1" nextAc="seek">
              <p:cTn id="25818" dur="indefinite" nodeType="mainSeq">
                <p:childTnLst>
                  <p:par>
                    <p:cTn id="25819" fill="hold">
                      <p:stCondLst>
                        <p:cond delay="0"/>
                      </p:stCondLst>
                      <p:childTnLst>
                        <p:par>
                          <p:cTn id="25801" fill="hold">
                            <p:stCondLst>
                              <p:cond delay="0"/>
                            </p:stCondLst>
                            <p:childTnLst>
                              <p:par>
                                <p:cTn id="258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803" presetID="10" presetClass="entr" presetSubtype="0" fill="hold" grpId="258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05" fill="hold">
                            <p:stCondLst>
                              <p:cond delay="200"/>
                            </p:stCondLst>
                            <p:childTnLst>
                              <p:par>
                                <p:cTn id="258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807" presetID="10" presetClass="entr" presetSubtype="0" fill="hold" grpId="25805" nodeType="withPrevious" dur="6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08" dur="1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09" fill="hold">
                            <p:stCondLst>
                              <p:cond delay="350"/>
                            </p:stCondLst>
                            <p:childTnLst>
                              <p:par>
                                <p:cTn id="258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811" presetID="10" presetClass="entr" presetSubtype="0" fill="hold" grpId="25809" nodeType="withPrevious" dur="6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12" dur="1" fill="hold"/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13" fill="hold">
                            <p:stCondLst>
                              <p:cond delay="500"/>
                            </p:stCondLst>
                            <p:childTnLst>
                              <p:par>
                                <p:cTn id="258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815" presetID="10" presetClass="entr" presetSubtype="0" fill="hold" grpId="25813" nodeType="withPrevious" dur="6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816" dur="1" fill="hold"/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344D"/>
                </a:solidFill>
                <a:latin typeface="Calibri"/>
              </a:rPr>
              <a:t>CareLink — End-to-End Home Care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4114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57200" y="1874519"/>
            <a:ext cx="4206240" cy="4663440"/>
          </a:xfrm>
          <a:solidFill>
            <a:srgbClr val="FEF2F2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2996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7185"/>
                </a:solidFill>
                <a:latin typeface="Calibri"/>
              </a:rPr>
              <a:t>Before CareLink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✗   No verified provider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927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✗   Manual scheduling, no conflict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32504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✗   No payment protection or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45736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✗   No medical record continuity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5896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✗   No intelligent matching or 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4206240"/>
            <a:ext cx="731520" cy="0"/>
          </a:xfrm>
          <a:prstGeom prst="line">
            <a:avLst/>
          </a:prstGeom>
          <a:ln w="31750">
            <a:solidFill>
              <a:srgbClr val="38B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40680" y="4142232"/>
            <a:ext cx="91440" cy="64008"/>
          </a:xfrm>
          <a:prstGeom prst="line">
            <a:avLst/>
          </a:prstGeom>
          <a:ln w="31750">
            <a:solidFill>
              <a:srgbClr val="38B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440680" y="4206240"/>
            <a:ext cx="91440" cy="64008"/>
          </a:xfrm>
          <a:prstGeom prst="line">
            <a:avLst/>
          </a:prstGeom>
          <a:ln w="31750">
            <a:solidFill>
              <a:srgbClr val="38B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1772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8B2AC"/>
                </a:solidFill>
                <a:latin typeface="Calibri"/>
              </a:rPr>
              <a:t>CareLink</a:t>
            </a:r>
          </a:p>
        </p:txBody>
      </p:sp>
      <p:sp>
        <p:nvSpPr>
          <p:cNvPr id="18" name="Rectangle 1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669280" y="1874519"/>
            <a:ext cx="6126480" cy="4663440"/>
          </a:xfrm>
          <a:solidFill>
            <a:srgbClr val="F0FDFA"/>
          </a:solidFill>
          <a:ln w="2286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0299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2AC"/>
                </a:solidFill>
                <a:latin typeface="Calibri"/>
              </a:rPr>
              <a:t>With CareLink</a:t>
            </a:r>
          </a:p>
        </p:txBody>
      </p:sp>
      <p:sp>
        <p:nvSpPr>
          <p:cNvPr id="20" name="Oval 19"/>
          <p:cNvSpPr/>
          <p:nvPr/>
        </p:nvSpPr>
        <p:spPr>
          <a:xfrm>
            <a:off x="5961888" y="2578608"/>
            <a:ext cx="365760" cy="36576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78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5-Step Intelligent 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9443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Select provider → Schedule → Location → Review → Pay</a:t>
            </a:r>
          </a:p>
        </p:txBody>
      </p:sp>
      <p:sp>
        <p:nvSpPr>
          <p:cNvPr id="23" name="Oval 22"/>
          <p:cNvSpPr/>
          <p:nvPr/>
        </p:nvSpPr>
        <p:spPr>
          <a:xfrm>
            <a:off x="5961888" y="333756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3375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Explainable AI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Medical tags + GPS + rating + experience scoring</a:t>
            </a:r>
          </a:p>
        </p:txBody>
      </p:sp>
      <p:sp>
        <p:nvSpPr>
          <p:cNvPr id="26" name="Oval 25"/>
          <p:cNvSpPr/>
          <p:nvPr/>
        </p:nvSpPr>
        <p:spPr>
          <a:xfrm>
            <a:off x="5961888" y="4096512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0965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Governed Payment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4622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Simulated escrow · 100% / 80% refund policy</a:t>
            </a:r>
          </a:p>
        </p:txBody>
      </p:sp>
      <p:sp>
        <p:nvSpPr>
          <p:cNvPr id="29" name="Oval 28"/>
          <p:cNvSpPr/>
          <p:nvPr/>
        </p:nvSpPr>
        <p:spPr>
          <a:xfrm>
            <a:off x="5961888" y="4855464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8554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Structured Medical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22122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Disease / allergy DBs with clinical notes</a:t>
            </a:r>
          </a:p>
        </p:txBody>
      </p:sp>
      <p:sp>
        <p:nvSpPr>
          <p:cNvPr id="32" name="Oval 31"/>
          <p:cNvSpPr/>
          <p:nvPr/>
        </p:nvSpPr>
        <p:spPr>
          <a:xfrm>
            <a:off x="5961888" y="5614416"/>
            <a:ext cx="365760" cy="3657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6144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Bilingual Real-Time 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9801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AR/EN · file &amp; voice attachments · read receipts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5913" dur="indefinite" restart="whenNotActive" nodeType="tmRoot">
          <p:childTnLst>
            <p:seq concurrent="1" nextAc="seek">
              <p:cTn id="25914" dur="indefinite" nodeType="mainSeq">
                <p:childTnLst>
                  <p:par>
                    <p:cTn id="25915" fill="hold">
                      <p:stCondLst>
                        <p:cond delay="0"/>
                      </p:stCondLst>
                      <p:childTnLst>
                        <p:par>
                          <p:cTn id="25901" fill="hold">
                            <p:stCondLst>
                              <p:cond delay="0"/>
                            </p:stCondLst>
                            <p:childTnLst>
                              <p:par>
                                <p:cTn id="259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903" presetID="10" presetClass="entr" presetSubtype="0" fill="hold" grpId="259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9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05" fill="hold">
                            <p:stCondLst>
                              <p:cond delay="200"/>
                            </p:stCondLst>
                            <p:childTnLst>
                              <p:par>
                                <p:cTn id="259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907" presetID="10" presetClass="entr" presetSubtype="0" fill="hold" grpId="25905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908" dur="1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09" fill="hold">
                            <p:stCondLst>
                              <p:cond delay="400"/>
                            </p:stCondLst>
                            <p:childTnLst>
                              <p:par>
                                <p:cTn id="259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5911" presetID="10" presetClass="entr" presetSubtype="0" fill="hold" grpId="25909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912" dur="1" fill="hold"/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344D"/>
                </a:solidFill>
                <a:latin typeface="Calibr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4114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1892808"/>
            <a:ext cx="3657600" cy="20574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57200" y="1828800"/>
            <a:ext cx="3657600" cy="2057400"/>
          </a:xfrm>
          <a:solidFill>
            <a:srgbClr val="FFFFFF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38B2AC"/>
              </a:gs>
              <a:gs pos="100000">
                <a:srgbClr val="60DAD4"/>
              </a:gs>
            </a:gsLst>
            <a:lin ang="5400000" scaled="0"/>
          </a:gradFill>
          <a:xfrm>
            <a:off x="457200" y="1828800"/>
            <a:ext cx="59436" cy="2057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975104"/>
            <a:ext cx="548640" cy="54864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9751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202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5-Step Booking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6888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Provider search → Date &amp; time slot selection → Visit location (GPS) → Summary review → Mock-card payment</a:t>
            </a:r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343400" y="1892808"/>
            <a:ext cx="3657600" cy="20574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297680" y="1828800"/>
            <a:ext cx="3657600" cy="2057400"/>
          </a:xfr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gradFill>
            <a:gsLst>
              <a:gs pos="0">
                <a:srgbClr val="06B6D4"/>
              </a:gs>
              <a:gs pos="100000">
                <a:srgbClr val="2EDEFC"/>
              </a:gs>
            </a:gsLst>
            <a:lin ang="5400000" scaled="0"/>
          </a:gradFill>
          <a:xfrm>
            <a:off x="4297680" y="1828800"/>
            <a:ext cx="59436" cy="2057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62272" y="1975104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19751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202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Real-Time In-App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46888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Full messaging with image, PDF, and voice note attachments. Read receipts, typing indicators, conversation threads.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183880" y="1892808"/>
            <a:ext cx="3657600" cy="20574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138160" y="1828800"/>
            <a:ext cx="3657600" cy="2057400"/>
          </a:xfr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gradFill>
            <a:gsLst>
              <a:gs pos="0">
                <a:srgbClr val="10B981"/>
              </a:gs>
              <a:gs pos="100000">
                <a:srgbClr val="38E1A9"/>
              </a:gs>
            </a:gsLst>
            <a:lin ang="5400000" scaled="0"/>
          </a:gradFill>
          <a:xfrm>
            <a:off x="8138160" y="1828800"/>
            <a:ext cx="59436" cy="2057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02752" y="1975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9751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19202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Structured Medical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46888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ICD-coded disease and allergy databases with status tracking. Doctor notes, nurse notes, blood type, lab results.</a:t>
            </a:r>
          </a:p>
        </p:txBody>
      </p:sp>
      <p:sp>
        <p:nvSpPr>
          <p:cNvPr id="28" name="Rectangle 2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4133088"/>
            <a:ext cx="3657600" cy="20574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57200" y="4069080"/>
            <a:ext cx="3657600" cy="2057400"/>
          </a:xfr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gradFill>
            <a:gsLst>
              <a:gs pos="0">
                <a:srgbClr val="F59E0B"/>
              </a:gs>
              <a:gs pos="100000">
                <a:srgbClr val="FFC633"/>
              </a:gs>
            </a:gsLst>
            <a:lin ang="5400000" scaled="0"/>
          </a:gradFill>
          <a:xfrm>
            <a:off x="457200" y="4069080"/>
            <a:ext cx="59436" cy="2057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421538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2153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160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Cancellation &amp; Refund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70916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100% refund before provider acceptance. 80% refund after acceptance. 10% provider + 10% platform fee retained.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343400" y="4133088"/>
            <a:ext cx="3657600" cy="20574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297680" y="4069080"/>
            <a:ext cx="3657600" cy="2057400"/>
          </a:xfrm>
          <a:solidFill>
            <a:srgbClr val="FFFF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gradFill>
            <a:gsLst>
              <a:gs pos="0">
                <a:srgbClr val="818CF8"/>
              </a:gs>
              <a:gs pos="100000">
                <a:srgbClr val="A9B4FF"/>
              </a:gs>
            </a:gsLst>
            <a:lin ang="5400000" scaled="0"/>
          </a:gradFill>
          <a:xfrm>
            <a:off x="4297680" y="4069080"/>
            <a:ext cx="59436" cy="2057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62272" y="4215384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2272" y="42153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160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Provider Wallet &amp; Escrow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470916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Per-provider wallet with pending/paid balance. Admin commission split. Transaction ledger per booking.</a:t>
            </a:r>
          </a:p>
        </p:txBody>
      </p:sp>
      <p:sp>
        <p:nvSpPr>
          <p:cNvPr id="42" name="Rectangle 41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183880" y="4133088"/>
            <a:ext cx="3657600" cy="20574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138160" y="4069080"/>
            <a:ext cx="3657600" cy="2057400"/>
          </a:xfrm>
          <a:solidFill>
            <a:srgbClr val="FFFFFF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gradFill>
            <a:gsLst>
              <a:gs pos="0">
                <a:srgbClr val="FB7185"/>
              </a:gs>
              <a:gs pos="100000">
                <a:srgbClr val="FF99AD"/>
              </a:gs>
            </a:gsLst>
            <a:lin ang="5400000" scaled="0"/>
          </a:gradFill>
          <a:xfrm>
            <a:off x="8138160" y="4069080"/>
            <a:ext cx="59436" cy="20574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302752" y="4215384"/>
            <a:ext cx="548640" cy="5486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42153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160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344D"/>
                </a:solidFill>
                <a:latin typeface="Calibri"/>
              </a:rPr>
              <a:t>Rate Approval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70916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Admin sets provider rate → Doctor reviews &amp; accepts or rejects → Account activates only after mutual approval.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6029" dur="indefinite" restart="whenNotActive" nodeType="tmRoot">
          <p:childTnLst>
            <p:seq concurrent="1" nextAc="seek">
              <p:cTn id="26030" dur="indefinite" nodeType="mainSeq">
                <p:childTnLst>
                  <p:par>
                    <p:cTn id="26031" fill="hold">
                      <p:stCondLst>
                        <p:cond delay="0"/>
                      </p:stCondLst>
                      <p:childTnLst>
                        <p:par>
                          <p:cTn id="26001" fill="hold">
                            <p:stCondLst>
                              <p:cond delay="0"/>
                            </p:stCondLst>
                            <p:childTnLst>
                              <p:par>
                                <p:cTn id="260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003" presetID="10" presetClass="entr" presetSubtype="0" fill="hold" grpId="260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0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05" fill="hold">
                            <p:stCondLst>
                              <p:cond delay="200"/>
                            </p:stCondLst>
                            <p:childTnLst>
                              <p:par>
                                <p:cTn id="260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007" presetID="10" presetClass="entr" presetSubtype="0" fill="hold" grpId="26005" nodeType="withPrevious" dur="5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008" dur="1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09" fill="hold">
                            <p:stCondLst>
                              <p:cond delay="290"/>
                            </p:stCondLst>
                            <p:childTnLst>
                              <p:par>
                                <p:cTn id="260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011" presetID="10" presetClass="entr" presetSubtype="0" fill="hold" grpId="26009" nodeType="withPrevious" dur="5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012" dur="1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13" fill="hold">
                            <p:stCondLst>
                              <p:cond delay="380"/>
                            </p:stCondLst>
                            <p:childTnLst>
                              <p:par>
                                <p:cTn id="260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015" presetID="10" presetClass="entr" presetSubtype="0" fill="hold" grpId="26013" nodeType="withPrevious" dur="5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016" dur="1" fill="hold"/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17" fill="hold">
                            <p:stCondLst>
                              <p:cond delay="470"/>
                            </p:stCondLst>
                            <p:childTnLst>
                              <p:par>
                                <p:cTn id="260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019" presetID="10" presetClass="entr" presetSubtype="0" fill="hold" grpId="26017" nodeType="withPrevious" dur="5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020" dur="1" fill="hold"/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21" fill="hold">
                            <p:stCondLst>
                              <p:cond delay="560"/>
                            </p:stCondLst>
                            <p:childTnLst>
                              <p:par>
                                <p:cTn id="260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023" presetID="10" presetClass="entr" presetSubtype="0" fill="hold" grpId="26021" nodeType="withPrevious" dur="5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024" dur="1" fill="hold"/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25" fill="hold">
                            <p:stCondLst>
                              <p:cond delay="650"/>
                            </p:stCondLst>
                            <p:childTnLst>
                              <p:par>
                                <p:cTn id="260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027" presetID="10" presetClass="entr" presetSubtype="0" fill="hold" grpId="26025" nodeType="withPrevious" dur="5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028" dur="1" fill="hold"/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344D"/>
                </a:solidFill>
                <a:latin typeface="Calibri"/>
              </a:rPr>
              <a:t>AI Recommendation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Explainable hybrid scoring — no cloud ML required · Cold-start safe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4114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65676" y="2103120"/>
            <a:ext cx="3657600" cy="3657600"/>
          </a:xfrm>
          <a:prstGeom prst="ellipse">
            <a:avLst/>
          </a:prstGeom>
          <a:solidFill>
            <a:srgbClr val="F3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85716" y="2423160"/>
            <a:ext cx="3017520" cy="3017520"/>
          </a:xfrm>
          <a:prstGeom prst="ellipse">
            <a:avLst/>
          </a:prstGeom>
          <a:solidFill>
            <a:srgbClr val="ED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68596" y="2606040"/>
            <a:ext cx="2651760" cy="2651760"/>
          </a:xfrm>
          <a:prstGeom prst="ellipse">
            <a:avLst/>
          </a:prstGeom>
          <a:solidFill>
            <a:srgbClr val="E7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gradFill>
            <a:gsLst>
              <a:gs pos="0">
                <a:srgbClr val="38B2AC"/>
              </a:gs>
              <a:gs pos="100000">
                <a:srgbClr val="06B6D4"/>
              </a:gs>
            </a:gsLst>
            <a:lin ang="8100000" scaled="0"/>
          </a:gradFill>
          <a:xfrm>
            <a:off x="5180076" y="3017520"/>
            <a:ext cx="1828800" cy="18288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0076" y="3611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076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Engine</a:t>
            </a:r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365760" y="3291840"/>
            <a:ext cx="3108960" cy="749808"/>
          </a:xfrm>
          <a:solidFill>
            <a:srgbClr val="EAF4F3"/>
          </a:solidFill>
          <a:ln w="1524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0624" y="3465576"/>
            <a:ext cx="402336" cy="402336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34107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467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Patient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67588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Chronic diseases · allergies · medications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3666744"/>
            <a:ext cx="1705356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456432" y="3611880"/>
            <a:ext cx="109728" cy="109728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365760" y="4297680"/>
            <a:ext cx="3108960" cy="749808"/>
          </a:xfrm>
          <a:solidFill>
            <a:srgbClr val="E6F4F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0624" y="4471416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44165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35254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Medical File Tags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8172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OCR text + AI analysis · analysisTags DB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74720" y="4672584"/>
            <a:ext cx="1705356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456432" y="4617720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365760" y="5303520"/>
            <a:ext cx="3108960" cy="749808"/>
          </a:xfrm>
          <a:solidFill>
            <a:srgbClr val="F0F1F9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" y="5477256"/>
            <a:ext cx="402336" cy="40233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" y="542239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35838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Search 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68756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Free-text or voice-to-text care intent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74720" y="5678424"/>
            <a:ext cx="1705356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456432" y="5623560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365760" y="6309360"/>
            <a:ext cx="3108960" cy="749808"/>
          </a:xfrm>
          <a:solidFill>
            <a:srgbClr val="E7F4F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0624" y="6483096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6428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636422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GPS Location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669340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Patient coordinates (Haversine distance)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474720" y="6684264"/>
            <a:ext cx="1705356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456432" y="66294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7466076" y="3291840"/>
            <a:ext cx="3291840" cy="658368"/>
          </a:xfrm>
          <a:solidFill>
            <a:srgbClr val="EDF3F3"/>
          </a:solidFill>
          <a:ln w="1524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30084" y="3483864"/>
            <a:ext cx="274320" cy="27432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4988" y="332841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Specialization Match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4988" y="363931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Keyword + ICD tag matching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08876.0" y="3621024"/>
            <a:ext cx="457200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7374636" y="3566160"/>
            <a:ext cx="109728" cy="109728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7466076" y="4206240"/>
            <a:ext cx="3291840" cy="658368"/>
          </a:xfrm>
          <a:solidFill>
            <a:srgbClr val="EBF4F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30084" y="4398264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4988" y="424281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Experience Score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4988" y="455371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0.4 (junior) → 1.0 (10+ yr)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008876.0" y="4535424"/>
            <a:ext cx="457200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374636" y="4480560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7466076" y="5120640"/>
            <a:ext cx="3291840" cy="658368"/>
          </a:xfrm>
          <a:solidFill>
            <a:srgbClr val="F7F2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30084" y="5312664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4988" y="515721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Rating Score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4988" y="546811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Normalized · 3/5 cold-start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08876.0" y="5449824"/>
            <a:ext cx="457200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7374636" y="53949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7466076" y="6035040"/>
            <a:ext cx="3291840" cy="658368"/>
          </a:xfrm>
          <a:solidFill>
            <a:srgbClr val="EBF4F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30084" y="6227064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4988" y="607161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Location Score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4988" y="638251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Haversine · ≤1 km = perfect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008876.0" y="6364224"/>
            <a:ext cx="457200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7374636" y="63093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7466076" y="6583680"/>
            <a:ext cx="3291840" cy="658368"/>
          </a:xfrm>
          <a:solidFill>
            <a:srgbClr val="F1F2F7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530084" y="6775704"/>
            <a:ext cx="274320" cy="27432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04988" y="6620256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344D"/>
                </a:solidFill>
                <a:latin typeface="Calibri"/>
              </a:rPr>
              <a:t>Medical Compatibility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4988" y="69311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analysisTags vs specialization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008876.0" y="6912864"/>
            <a:ext cx="457200.0" cy="0"/>
          </a:xfrm>
          <a:prstGeom prst="line">
            <a:avLst/>
          </a:prstGeom>
          <a:ln w="16510">
            <a:solidFill>
              <a:srgbClr val="C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7374636" y="6858000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66076" y="72694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Ranked Providers + Match Reason + Score Breakdown</a:t>
            </a:r>
          </a:p>
        </p:txBody>
      </p:sp>
      <p:sp>
        <p:nvSpPr>
          <p:cNvPr id="73" name="Rectangle 7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457200" y="6492240"/>
            <a:ext cx="11247120" cy="274320"/>
          </a:xfr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6519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8B2AC"/>
                </a:solidFill>
                <a:latin typeface="Calibri"/>
              </a:rPr>
              <a:t>Cold-start: historyWeight = 0 until visit signals exist.  Voice search via speech_to_text → rawQuery → requestedServiceKeyword → scoring engine.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6149" dur="indefinite" restart="whenNotActive" nodeType="tmRoot">
          <p:childTnLst>
            <p:seq concurrent="1" nextAc="seek">
              <p:cTn id="26150" dur="indefinite" nodeType="mainSeq">
                <p:childTnLst>
                  <p:par>
                    <p:cTn id="26151" fill="hold">
                      <p:stCondLst>
                        <p:cond delay="0"/>
                      </p:stCondLst>
                      <p:childTnLst>
                        <p:par>
                          <p:cTn id="26101" fill="hold">
                            <p:stCondLst>
                              <p:cond delay="0"/>
                            </p:stCondLst>
                            <p:childTnLst>
                              <p:par>
                                <p:cTn id="26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03" presetID="10" presetClass="entr" presetSubtype="0" fill="hold" grpId="261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05" fill="hold">
                            <p:stCondLst>
                              <p:cond delay="120"/>
                            </p:stCondLst>
                            <p:childTnLst>
                              <p:par>
                                <p:cTn id="261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07" presetID="10" presetClass="entr" presetSubtype="0" fill="hold" grpId="26105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08" dur="1" fill="hold"/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09" fill="hold">
                            <p:stCondLst>
                              <p:cond delay="300"/>
                            </p:stCondLst>
                            <p:childTnLst>
                              <p:par>
                                <p:cTn id="261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11" presetID="10" presetClass="entr" presetSubtype="0" fill="hold" grpId="26109" nodeType="withPrevious" dur="7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12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13" fill="hold">
                            <p:stCondLst>
                              <p:cond delay="450"/>
                            </p:stCondLst>
                            <p:childTnLst>
                              <p:par>
                                <p:cTn id="26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15" presetID="10" presetClass="entr" presetSubtype="0" fill="hold" grpId="26113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16" dur="1" fill="hold"/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17" fill="hold">
                            <p:stCondLst>
                              <p:cond delay="450"/>
                            </p:stCondLst>
                            <p:childTnLst>
                              <p:par>
                                <p:cTn id="261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19" presetID="10" presetClass="entr" presetSubtype="0" fill="hold" grpId="26117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20" dur="1" fill="hold"/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21" fill="hold">
                            <p:stCondLst>
                              <p:cond delay="450"/>
                            </p:stCondLst>
                            <p:childTnLst>
                              <p:par>
                                <p:cTn id="261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23" presetID="10" presetClass="entr" presetSubtype="0" fill="hold" grpId="26121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24" dur="1" fill="hold"/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25" fill="hold">
                            <p:stCondLst>
                              <p:cond delay="450"/>
                            </p:stCondLst>
                            <p:childTnLst>
                              <p:par>
                                <p:cTn id="26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27" presetID="10" presetClass="entr" presetSubtype="0" fill="hold" grpId="26125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28" dur="1" fill="hold"/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29" fill="hold">
                            <p:stCondLst>
                              <p:cond delay="600"/>
                            </p:stCondLst>
                            <p:childTnLst>
                              <p:par>
                                <p:cTn id="261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31" presetID="10" presetClass="entr" presetSubtype="0" fill="hold" grpId="26129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32" dur="1" fill="hold"/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33" fill="hold">
                            <p:stCondLst>
                              <p:cond delay="600"/>
                            </p:stCondLst>
                            <p:childTnLst>
                              <p:par>
                                <p:cTn id="261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35" presetID="10" presetClass="entr" presetSubtype="0" fill="hold" grpId="26133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36" dur="1" fill="hold"/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37" fill="hold">
                            <p:stCondLst>
                              <p:cond delay="600"/>
                            </p:stCondLst>
                            <p:childTnLst>
                              <p:par>
                                <p:cTn id="261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39" presetID="10" presetClass="entr" presetSubtype="0" fill="hold" grpId="26137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40" dur="1" fill="hold"/>
                                              <p:tgtEl>
                                                <p:spTgt spid="5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41" fill="hold">
                            <p:stCondLst>
                              <p:cond delay="600"/>
                            </p:stCondLst>
                            <p:childTnLst>
                              <p:par>
                                <p:cTn id="261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43" presetID="10" presetClass="entr" presetSubtype="0" fill="hold" grpId="26141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44" dur="1" fill="hold"/>
                                              <p:tgtEl>
                                                <p:spTgt spid="6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45" fill="hold">
                            <p:stCondLst>
                              <p:cond delay="600"/>
                            </p:stCondLst>
                            <p:childTnLst>
                              <p:par>
                                <p:cTn id="261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147" presetID="10" presetClass="entr" presetSubtype="0" fill="hold" grpId="26145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148" dur="1" fill="hold"/>
                                              <p:tgtEl>
                                                <p:spTgt spid="6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12344D"/>
              </a:gs>
              <a:gs pos="100000">
                <a:srgbClr val="1E293B"/>
              </a:gs>
            </a:gsLst>
            <a:lin ang="81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D1C5"/>
                </a:solidFill>
                <a:latin typeface="Calibri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Flutter  →  Express REST API  →  Backend Services  →  MySQL Database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CLIENTS</a:t>
            </a:r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2286000" y="1965960"/>
            <a:ext cx="2286000" cy="685800"/>
          </a:xfrm>
          <a:solidFill>
            <a:srgbClr val="0C2538"/>
          </a:solidFill>
          <a:ln w="1905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77440" y="2080260"/>
            <a:ext cx="457200" cy="457200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305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D1C5"/>
                </a:solidFill>
                <a:latin typeface="Calibri"/>
              </a:rPr>
              <a:t>Patient App</a:t>
            </a:r>
          </a:p>
        </p:txBody>
      </p:sp>
      <p:sp>
        <p:nvSpPr>
          <p:cNvPr id="12" name="Rectangle 11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754880" y="1965960"/>
            <a:ext cx="2286000" cy="685800"/>
          </a:xfrm>
          <a:solidFill>
            <a:srgbClr val="0C25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0802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305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Doctor App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7223760" y="1965960"/>
            <a:ext cx="2286000" cy="685800"/>
          </a:xfrm>
          <a:solidFill>
            <a:srgbClr val="0C25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20802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1305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Nurse App</a:t>
            </a:r>
          </a:p>
        </p:txBody>
      </p:sp>
      <p:sp>
        <p:nvSpPr>
          <p:cNvPr id="18" name="Rectangle 1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9692640" y="1965960"/>
            <a:ext cx="2286000" cy="685800"/>
          </a:xfrm>
          <a:solidFill>
            <a:srgbClr val="0C25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80" y="208026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21305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Admin Panel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4476.0" y="2651760"/>
            <a:ext cx="0.0" cy="548640"/>
          </a:xfrm>
          <a:prstGeom prst="line">
            <a:avLst/>
          </a:prstGeom>
          <a:ln w="22860">
            <a:solidFill>
              <a:srgbClr val="4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21324.0" y="3090672"/>
            <a:ext cx="73152.0" cy="109728"/>
          </a:xfrm>
          <a:prstGeom prst="line">
            <a:avLst/>
          </a:prstGeom>
          <a:ln w="22860">
            <a:solidFill>
              <a:srgbClr val="4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94476.0" y="3090672"/>
            <a:ext cx="73152.0" cy="109728"/>
          </a:xfrm>
          <a:prstGeom prst="line">
            <a:avLst/>
          </a:prstGeom>
          <a:ln w="22860">
            <a:solidFill>
              <a:srgbClr val="4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82796" y="26791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FD1C5"/>
                </a:solidFill>
                <a:latin typeface="Calibri"/>
              </a:rPr>
              <a:t>REST API  (JSON over HTTP, port 3000)</a:t>
            </a:r>
          </a:p>
        </p:txBody>
      </p:sp>
      <p:sp>
        <p:nvSpPr>
          <p:cNvPr id="25" name="Rectangle 2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57200" y="3200400"/>
            <a:ext cx="11247120" cy="1920240"/>
          </a:xfrm>
          <a:solidFill>
            <a:srgbClr val="0C2030"/>
          </a:solidFill>
          <a:ln w="1651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API</a:t>
            </a:r>
          </a:p>
        </p:txBody>
      </p:sp>
      <p:sp>
        <p:nvSpPr>
          <p:cNvPr id="27" name="Rectangle 2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920240" y="3337560"/>
            <a:ext cx="1554480" cy="283464"/>
          </a:xfrm>
          <a:solidFill>
            <a:srgbClr val="101F1E"/>
          </a:solidFill>
          <a:ln w="1016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3741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8B2AC"/>
                </a:solidFill>
                <a:latin typeface="Calibri"/>
              </a:rPr>
              <a:t>/patient</a:t>
            </a:r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3621024" y="3337560"/>
            <a:ext cx="1554480" cy="283464"/>
          </a:xfrm>
          <a:solidFill>
            <a:srgbClr val="0A1F23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33741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  <a:latin typeface="Calibri"/>
              </a:rPr>
              <a:t>/doctor</a:t>
            </a:r>
          </a:p>
        </p:txBody>
      </p:sp>
      <p:sp>
        <p:nvSpPr>
          <p:cNvPr id="31" name="Rectangle 30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321808" y="3337560"/>
            <a:ext cx="1554480" cy="283464"/>
          </a:xfrm>
          <a:solidFill>
            <a:srgbClr val="0B2019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21808" y="33741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Calibri"/>
              </a:rPr>
              <a:t>/nurse</a:t>
            </a:r>
          </a:p>
        </p:txBody>
      </p:sp>
      <p:sp>
        <p:nvSpPr>
          <p:cNvPr id="33" name="Rectangle 3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7022592" y="3337560"/>
            <a:ext cx="1554480" cy="283464"/>
          </a:xfrm>
          <a:solidFill>
            <a:srgbClr val="271C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33741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Calibri"/>
              </a:rPr>
              <a:t>/admin</a:t>
            </a:r>
          </a:p>
        </p:txBody>
      </p:sp>
      <p:sp>
        <p:nvSpPr>
          <p:cNvPr id="35" name="Rectangle 3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723376" y="3337560"/>
            <a:ext cx="1554480" cy="283464"/>
          </a:xfrm>
          <a:solidFill>
            <a:srgbClr val="191A27"/>
          </a:solidFill>
          <a:ln w="101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6" y="33741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18CF8"/>
                </a:solidFill>
                <a:latin typeface="Calibri"/>
              </a:rPr>
              <a:t>/providers</a:t>
            </a:r>
          </a:p>
        </p:txBody>
      </p:sp>
      <p:sp>
        <p:nvSpPr>
          <p:cNvPr id="37" name="Rectangle 3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0424160" y="3337560"/>
            <a:ext cx="1554480" cy="283464"/>
          </a:xfrm>
          <a:solidFill>
            <a:srgbClr val="281719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337413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B7185"/>
                </a:solidFill>
                <a:latin typeface="Calibri"/>
              </a:rPr>
              <a:t>/payments</a:t>
            </a:r>
          </a:p>
        </p:txBody>
      </p:sp>
      <p:sp>
        <p:nvSpPr>
          <p:cNvPr id="39" name="Rectangle 3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920240" y="3767328"/>
            <a:ext cx="1554480" cy="283464"/>
          </a:xfrm>
          <a:solidFill>
            <a:srgbClr val="101F1E"/>
          </a:solidFill>
          <a:ln w="1016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380390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8B2AC"/>
                </a:solidFill>
                <a:latin typeface="Calibri"/>
              </a:rPr>
              <a:t>/api/payments</a:t>
            </a:r>
          </a:p>
        </p:txBody>
      </p:sp>
      <p:sp>
        <p:nvSpPr>
          <p:cNvPr id="41" name="Rectangle 40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3621024" y="3767328"/>
            <a:ext cx="1554480" cy="283464"/>
          </a:xfrm>
          <a:solidFill>
            <a:srgbClr val="0A1F23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21024" y="380390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  <a:latin typeface="Calibri"/>
              </a:rPr>
              <a:t>/recommendations</a:t>
            </a:r>
          </a:p>
        </p:txBody>
      </p:sp>
      <p:sp>
        <p:nvSpPr>
          <p:cNvPr id="43" name="Rectangle 4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321808" y="3767328"/>
            <a:ext cx="1554480" cy="283464"/>
          </a:xfrm>
          <a:solidFill>
            <a:srgbClr val="0B2019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21808" y="380390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B981"/>
                </a:solidFill>
                <a:latin typeface="Calibri"/>
              </a:rPr>
              <a:t>/medical-records</a:t>
            </a:r>
          </a:p>
        </p:txBody>
      </p:sp>
      <p:sp>
        <p:nvSpPr>
          <p:cNvPr id="45" name="Rectangle 4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7022592" y="3767328"/>
            <a:ext cx="1554480" cy="283464"/>
          </a:xfrm>
          <a:solidFill>
            <a:srgbClr val="271C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22592" y="380390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Calibri"/>
              </a:rPr>
              <a:t>/notifications</a:t>
            </a:r>
          </a:p>
        </p:txBody>
      </p:sp>
      <p:sp>
        <p:nvSpPr>
          <p:cNvPr id="47" name="Rectangle 4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723376" y="3767328"/>
            <a:ext cx="1554480" cy="283464"/>
          </a:xfrm>
          <a:solidFill>
            <a:srgbClr val="191A27"/>
          </a:solidFill>
          <a:ln w="101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23376" y="380390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18CF8"/>
                </a:solidFill>
                <a:latin typeface="Calibri"/>
              </a:rPr>
              <a:t>/ratings</a:t>
            </a:r>
          </a:p>
        </p:txBody>
      </p:sp>
      <p:sp>
        <p:nvSpPr>
          <p:cNvPr id="49" name="Rectangle 4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0424160" y="3767328"/>
            <a:ext cx="1554480" cy="283464"/>
          </a:xfrm>
          <a:solidFill>
            <a:srgbClr val="281719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0" y="3803904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B7185"/>
                </a:solidFill>
                <a:latin typeface="Calibri"/>
              </a:rPr>
              <a:t>/email-auth</a:t>
            </a:r>
          </a:p>
        </p:txBody>
      </p:sp>
      <p:sp>
        <p:nvSpPr>
          <p:cNvPr id="51" name="Rectangle 50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64692" y="4736592"/>
            <a:ext cx="1920240" cy="292608"/>
          </a:xfrm>
          <a:solidFill>
            <a:srgbClr val="061824"/>
          </a:solidFill>
          <a:ln w="889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4692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FD1C5"/>
                </a:solidFill>
                <a:latin typeface="Calibri"/>
              </a:rPr>
              <a:t>bookingPayment</a:t>
            </a:r>
          </a:p>
        </p:txBody>
      </p:sp>
      <p:sp>
        <p:nvSpPr>
          <p:cNvPr id="53" name="Rectangle 5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2994660" y="4736592"/>
            <a:ext cx="1920240" cy="292608"/>
          </a:xfrm>
          <a:solidFill>
            <a:srgbClr val="061824"/>
          </a:solidFill>
          <a:ln w="889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94660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FD1C5"/>
                </a:solidFill>
                <a:latin typeface="Calibri"/>
              </a:rPr>
              <a:t>cancellationPolicy</a:t>
            </a:r>
          </a:p>
        </p:txBody>
      </p:sp>
      <p:sp>
        <p:nvSpPr>
          <p:cNvPr id="55" name="Rectangle 5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024628" y="4736592"/>
            <a:ext cx="1920240" cy="292608"/>
          </a:xfrm>
          <a:solidFill>
            <a:srgbClr val="061824"/>
          </a:solidFill>
          <a:ln w="889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4628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FD1C5"/>
                </a:solidFill>
                <a:latin typeface="Calibri"/>
              </a:rPr>
              <a:t>aiRecommendation</a:t>
            </a:r>
          </a:p>
        </p:txBody>
      </p:sp>
      <p:sp>
        <p:nvSpPr>
          <p:cNvPr id="57" name="Rectangle 5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7054596" y="4736592"/>
            <a:ext cx="1920240" cy="292608"/>
          </a:xfrm>
          <a:solidFill>
            <a:srgbClr val="061824"/>
          </a:solidFill>
          <a:ln w="889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4596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FD1C5"/>
                </a:solidFill>
                <a:latin typeface="Calibri"/>
              </a:rPr>
              <a:t>emailOTP</a:t>
            </a:r>
          </a:p>
        </p:txBody>
      </p:sp>
      <p:sp>
        <p:nvSpPr>
          <p:cNvPr id="59" name="Rectangle 5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84564" y="4736592"/>
            <a:ext cx="1920240" cy="292608"/>
          </a:xfrm>
          <a:solidFill>
            <a:srgbClr val="061824"/>
          </a:solidFill>
          <a:ln w="889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84564" y="478231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FD1C5"/>
                </a:solidFill>
                <a:latin typeface="Calibri"/>
              </a:rPr>
              <a:t>notifications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94476.0" y="5120640"/>
            <a:ext cx="0.0" cy="411480"/>
          </a:xfrm>
          <a:prstGeom prst="line">
            <a:avLst/>
          </a:prstGeom>
          <a:ln w="22860">
            <a:solidFill>
              <a:srgbClr val="4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021324.0" y="5422392"/>
            <a:ext cx="73152.0" cy="109728"/>
          </a:xfrm>
          <a:prstGeom prst="line">
            <a:avLst/>
          </a:prstGeom>
          <a:ln w="22860">
            <a:solidFill>
              <a:srgbClr val="4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6094476.0" y="5422392"/>
            <a:ext cx="73152.0" cy="109728"/>
          </a:xfrm>
          <a:prstGeom prst="line">
            <a:avLst/>
          </a:prstGeom>
          <a:ln w="22860">
            <a:solidFill>
              <a:srgbClr val="4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808476" y="51572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FD1C5"/>
                </a:solidFill>
                <a:latin typeface="Calibri"/>
              </a:rPr>
              <a:t>mysql2 (connection pool, utf8mb4, 10 connections)</a:t>
            </a:r>
          </a:p>
        </p:txBody>
      </p:sp>
      <p:sp>
        <p:nvSpPr>
          <p:cNvPr id="65" name="Rectangle 6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57200" y="5532120"/>
            <a:ext cx="11247120" cy="822960"/>
          </a:xfrm>
          <a:solidFill>
            <a:srgbClr val="061824"/>
          </a:solidFill>
          <a:ln w="165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605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DB</a:t>
            </a:r>
          </a:p>
        </p:txBody>
      </p:sp>
      <p:sp>
        <p:nvSpPr>
          <p:cNvPr id="67" name="Rectangle 6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920240" y="5596128"/>
            <a:ext cx="822960" cy="237744"/>
          </a:xfrm>
          <a:solidFill>
            <a:srgbClr val="0A2230"/>
          </a:solidFill>
          <a:ln w="889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20240" y="5632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2AC"/>
                </a:solidFill>
                <a:latin typeface="Calibri"/>
              </a:rPr>
              <a:t>user</a:t>
            </a:r>
          </a:p>
        </p:txBody>
      </p:sp>
      <p:sp>
        <p:nvSpPr>
          <p:cNvPr id="69" name="Rectangle 6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2926080" y="5596128"/>
            <a:ext cx="822960" cy="237744"/>
          </a:xfrm>
          <a:solidFill>
            <a:srgbClr val="0A2230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26080" y="5632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B6D4"/>
                </a:solidFill>
                <a:latin typeface="Calibri"/>
              </a:rPr>
              <a:t>patient</a:t>
            </a:r>
          </a:p>
        </p:txBody>
      </p:sp>
      <p:sp>
        <p:nvSpPr>
          <p:cNvPr id="71" name="Rectangle 70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3931920" y="5596128"/>
            <a:ext cx="822960" cy="237744"/>
          </a:xfrm>
          <a:solidFill>
            <a:srgbClr val="0A223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0" y="5632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careprovider</a:t>
            </a:r>
          </a:p>
        </p:txBody>
      </p:sp>
      <p:sp>
        <p:nvSpPr>
          <p:cNvPr id="73" name="Rectangle 7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4937760" y="5596128"/>
            <a:ext cx="822960" cy="237744"/>
          </a:xfrm>
          <a:solidFill>
            <a:srgbClr val="0A2230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37760" y="5632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  <a:latin typeface="Calibri"/>
              </a:rPr>
              <a:t>servicerequest</a:t>
            </a:r>
          </a:p>
        </p:txBody>
      </p:sp>
      <p:sp>
        <p:nvSpPr>
          <p:cNvPr id="75" name="Rectangle 7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943600" y="5596128"/>
            <a:ext cx="822960" cy="237744"/>
          </a:xfrm>
          <a:solidFill>
            <a:srgbClr val="0A2230"/>
          </a:solidFill>
          <a:ln w="889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0" y="5632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18CF8"/>
                </a:solidFill>
                <a:latin typeface="Calibri"/>
              </a:rPr>
              <a:t>payment</a:t>
            </a:r>
          </a:p>
        </p:txBody>
      </p:sp>
      <p:sp>
        <p:nvSpPr>
          <p:cNvPr id="77" name="Rectangle 7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6949440" y="5596128"/>
            <a:ext cx="822960" cy="237744"/>
          </a:xfrm>
          <a:solidFill>
            <a:srgbClr val="0A2230"/>
          </a:solidFill>
          <a:ln w="889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9440" y="563270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B7185"/>
                </a:solidFill>
                <a:latin typeface="Calibri"/>
              </a:rPr>
              <a:t>medicalrecord</a:t>
            </a:r>
          </a:p>
        </p:txBody>
      </p:sp>
      <p:sp>
        <p:nvSpPr>
          <p:cNvPr id="79" name="Rectangle 7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920240" y="6108192"/>
            <a:ext cx="822960" cy="237744"/>
          </a:xfrm>
          <a:solidFill>
            <a:srgbClr val="0A2230"/>
          </a:solidFill>
          <a:ln w="889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20240" y="61447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8B2AC"/>
                </a:solidFill>
                <a:latin typeface="Calibri"/>
              </a:rPr>
              <a:t>availabilityslot</a:t>
            </a:r>
          </a:p>
        </p:txBody>
      </p:sp>
      <p:sp>
        <p:nvSpPr>
          <p:cNvPr id="81" name="Rectangle 80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2926080" y="6108192"/>
            <a:ext cx="822960" cy="237744"/>
          </a:xfrm>
          <a:solidFill>
            <a:srgbClr val="0A2230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26080" y="61447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B6D4"/>
                </a:solidFill>
                <a:latin typeface="Calibri"/>
              </a:rPr>
              <a:t>message</a:t>
            </a:r>
          </a:p>
        </p:txBody>
      </p:sp>
      <p:sp>
        <p:nvSpPr>
          <p:cNvPr id="83" name="Rectangle 8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3931920" y="6108192"/>
            <a:ext cx="822960" cy="237744"/>
          </a:xfrm>
          <a:solidFill>
            <a:srgbClr val="0A223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31920" y="61447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  <a:latin typeface="Calibri"/>
              </a:rPr>
              <a:t>providervisitrating</a:t>
            </a:r>
          </a:p>
        </p:txBody>
      </p:sp>
      <p:sp>
        <p:nvSpPr>
          <p:cNvPr id="85" name="Rectangle 8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4937760" y="6108192"/>
            <a:ext cx="822960" cy="237744"/>
          </a:xfrm>
          <a:solidFill>
            <a:srgbClr val="0A2230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37760" y="61447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  <a:latin typeface="Calibri"/>
              </a:rPr>
              <a:t>provider_rates</a:t>
            </a:r>
          </a:p>
        </p:txBody>
      </p:sp>
      <p:sp>
        <p:nvSpPr>
          <p:cNvPr id="87" name="Rectangle 8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943600" y="6108192"/>
            <a:ext cx="822960" cy="237744"/>
          </a:xfrm>
          <a:solidFill>
            <a:srgbClr val="0A2230"/>
          </a:solidFill>
          <a:ln w="889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0" y="61447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18CF8"/>
                </a:solidFill>
                <a:latin typeface="Calibri"/>
              </a:rPr>
              <a:t>provider_wallet</a:t>
            </a:r>
          </a:p>
        </p:txBody>
      </p:sp>
      <p:sp>
        <p:nvSpPr>
          <p:cNvPr id="89" name="Rectangle 8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6949440" y="6108192"/>
            <a:ext cx="822960" cy="237744"/>
          </a:xfrm>
          <a:solidFill>
            <a:srgbClr val="0A2230"/>
          </a:solidFill>
          <a:ln w="889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0" y="614476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B7185"/>
                </a:solidFill>
                <a:latin typeface="Calibri"/>
              </a:rPr>
              <a:t>admin_wallet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6233" dur="indefinite" restart="whenNotActive" nodeType="tmRoot">
          <p:childTnLst>
            <p:seq concurrent="1" nextAc="seek">
              <p:cTn id="26234" dur="indefinite" nodeType="mainSeq">
                <p:childTnLst>
                  <p:par>
                    <p:cTn id="26235" fill="hold">
                      <p:stCondLst>
                        <p:cond delay="0"/>
                      </p:stCondLst>
                      <p:childTnLst>
                        <p:par>
                          <p:cTn id="26201" fill="hold">
                            <p:stCondLst>
                              <p:cond delay="0"/>
                            </p:stCondLst>
                            <p:childTnLst>
                              <p:par>
                                <p:cTn id="262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03" presetID="10" presetClass="entr" presetSubtype="0" fill="hold" grpId="262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2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05" fill="hold">
                            <p:stCondLst>
                              <p:cond delay="150"/>
                            </p:stCondLst>
                            <p:childTnLst>
                              <p:par>
                                <p:cTn id="262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07" presetID="10" presetClass="entr" presetSubtype="0" fill="hold" grpId="26205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208" dur="1" fill="hold"/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09" fill="hold">
                            <p:stCondLst>
                              <p:cond delay="250"/>
                            </p:stCondLst>
                            <p:childTnLst>
                              <p:par>
                                <p:cTn id="262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11" presetID="10" presetClass="entr" presetSubtype="0" fill="hold" grpId="26209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212" dur="1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13" fill="hold">
                            <p:stCondLst>
                              <p:cond delay="330"/>
                            </p:stCondLst>
                            <p:childTnLst>
                              <p:par>
                                <p:cTn id="262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15" presetID="10" presetClass="entr" presetSubtype="0" fill="hold" grpId="26213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216" dur="1" fill="hold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17" fill="hold">
                            <p:stCondLst>
                              <p:cond delay="410"/>
                            </p:stCondLst>
                            <p:childTnLst>
                              <p:par>
                                <p:cTn id="262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19" presetID="10" presetClass="entr" presetSubtype="0" fill="hold" grpId="26217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220" dur="1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21" fill="hold">
                            <p:stCondLst>
                              <p:cond delay="490"/>
                            </p:stCondLst>
                            <p:childTnLst>
                              <p:par>
                                <p:cTn id="262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23" presetID="10" presetClass="entr" presetSubtype="0" fill="hold" grpId="26221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224" dur="1" fill="hold"/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2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27" presetID="10" presetClass="entr" presetSubtype="0" fill="hold" grpId="26225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228" dur="1" fill="hold"/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29" fill="hold">
                            <p:stCondLst>
                              <p:cond delay="700"/>
                            </p:stCondLst>
                            <p:childTnLst>
                              <p:par>
                                <p:cTn id="262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231" presetID="10" presetClass="entr" presetSubtype="0" fill="hold" grpId="26229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232" dur="1" fill="hold"/>
                                              <p:tgtEl>
                                                <p:spTgt spid="6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12344D"/>
              </a:gs>
              <a:gs pos="100000">
                <a:srgbClr val="38B2AC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19756" y="-45720"/>
            <a:ext cx="6949440" cy="6949440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51276" y="685800"/>
            <a:ext cx="5486400" cy="5486400"/>
          </a:xfrm>
          <a:prstGeom prst="ellipse">
            <a:avLst/>
          </a:prstGeom>
          <a:noFill/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91356" y="1325880"/>
            <a:ext cx="4206240" cy="4206240"/>
          </a:xfrm>
          <a:prstGeom prst="ellipse">
            <a:avLst/>
          </a:prstGeom>
          <a:noFill/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25000"/>
            </a:avLst>
          </a:prstGeom>
          <a:xfrm>
            <a:off x="5308092" y="1673352"/>
            <a:ext cx="1828800" cy="3474720"/>
          </a:xfrm>
          <a:solidFill>
            <a:srgbClr val="03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25000"/>
            </a:avLst>
          </a:prstGeom>
          <a:xfrm>
            <a:off x="5180076" y="1508760"/>
            <a:ext cx="1828800" cy="3474720"/>
          </a:xfrm>
          <a:solidFill>
            <a:srgbClr val="085550"/>
          </a:solidFill>
          <a:ln w="228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18000"/>
            </a:avLst>
          </a:prstGeom>
          <a:xfrm>
            <a:off x="5298948" y="1755648"/>
            <a:ext cx="1591056" cy="2999232"/>
          </a:xfrm>
          <a:solidFill>
            <a:srgbClr val="EC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0468" y="1572768"/>
            <a:ext cx="128016" cy="128016"/>
          </a:xfrm>
          <a:prstGeom prst="ellipse">
            <a:avLst/>
          </a:prstGeom>
          <a:solidFill>
            <a:srgbClr val="064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774436" y="4818888"/>
            <a:ext cx="640080" cy="64008"/>
          </a:xfr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62956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2AC"/>
                </a:solidFill>
                <a:latin typeface="Calibri"/>
              </a:rPr>
              <a:t>CareLink</a:t>
            </a:r>
          </a:p>
        </p:txBody>
      </p:sp>
      <p:sp>
        <p:nvSpPr>
          <p:cNvPr id="12" name="Rectangle 11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454396" y="2377440"/>
            <a:ext cx="1280160" cy="201168"/>
          </a:xfrm>
          <a:solidFill>
            <a:srgbClr val="C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454396" y="2724912"/>
            <a:ext cx="1280160" cy="201168"/>
          </a:xfrm>
          <a:solidFill>
            <a:srgbClr val="C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454396" y="3072384"/>
            <a:ext cx="1280160" cy="201168"/>
          </a:xfrm>
          <a:solidFill>
            <a:srgbClr val="C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7F3D0"/>
                </a:solidFill>
                <a:latin typeface="Calibri"/>
              </a:rPr>
              <a:t>See CareLink in action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065276" y="5897880"/>
            <a:ext cx="1828800" cy="384048"/>
          </a:xfrm>
          <a:solidFill>
            <a:srgbClr val="063F3B"/>
          </a:solidFill>
          <a:ln w="1143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5276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F3D0"/>
                </a:solidFill>
                <a:latin typeface="Calibri"/>
              </a:rPr>
              <a:t>Booking Flow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94076.0" y="6089904"/>
            <a:ext cx="228600.0" cy="0"/>
          </a:xfrm>
          <a:prstGeom prst="line">
            <a:avLst/>
          </a:prstGeom>
          <a:ln w="1524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3122676" y="5897880"/>
            <a:ext cx="1828800" cy="384048"/>
          </a:xfrm>
          <a:solidFill>
            <a:srgbClr val="063F3B"/>
          </a:solidFill>
          <a:ln w="1143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2676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F3D0"/>
                </a:solidFill>
                <a:latin typeface="Calibri"/>
              </a:rPr>
              <a:t>AI Matching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1476.0" y="6089904"/>
            <a:ext cx="228600.0" cy="0"/>
          </a:xfrm>
          <a:prstGeom prst="line">
            <a:avLst/>
          </a:prstGeom>
          <a:ln w="1524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180076" y="5897880"/>
            <a:ext cx="1828800" cy="384048"/>
          </a:xfrm>
          <a:solidFill>
            <a:srgbClr val="063F3B"/>
          </a:solidFill>
          <a:ln w="1143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0076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F3D0"/>
                </a:solidFill>
                <a:latin typeface="Calibri"/>
              </a:rPr>
              <a:t>Payment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08876.0" y="6089904"/>
            <a:ext cx="228600.0" cy="0"/>
          </a:xfrm>
          <a:prstGeom prst="line">
            <a:avLst/>
          </a:prstGeom>
          <a:ln w="1524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7237476" y="5897880"/>
            <a:ext cx="1828800" cy="384048"/>
          </a:xfrm>
          <a:solidFill>
            <a:srgbClr val="063F3B"/>
          </a:solidFill>
          <a:ln w="1143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7476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F3D0"/>
                </a:solidFill>
                <a:latin typeface="Calibri"/>
              </a:rPr>
              <a:t>Doctor Accepts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66276.0" y="6089904"/>
            <a:ext cx="228600.0" cy="0"/>
          </a:xfrm>
          <a:prstGeom prst="line">
            <a:avLst/>
          </a:prstGeom>
          <a:ln w="15240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294876" y="5897880"/>
            <a:ext cx="1828800" cy="384048"/>
          </a:xfrm>
          <a:solidFill>
            <a:srgbClr val="063F3B"/>
          </a:solidFill>
          <a:ln w="1143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4876" y="5943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F3D0"/>
                </a:solidFill>
                <a:latin typeface="Calibri"/>
              </a:rPr>
              <a:t>Chat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6333" dur="indefinite" restart="whenNotActive" nodeType="tmRoot">
          <p:childTnLst>
            <p:seq concurrent="1" nextAc="seek">
              <p:cTn id="26334" dur="indefinite" nodeType="mainSeq">
                <p:childTnLst>
                  <p:par>
                    <p:cTn id="26335" fill="hold">
                      <p:stCondLst>
                        <p:cond delay="0"/>
                      </p:stCondLst>
                      <p:childTnLst>
                        <p:par>
                          <p:cTn id="26301" fill="hold">
                            <p:stCondLst>
                              <p:cond delay="200"/>
                            </p:stCondLst>
                            <p:childTnLst>
                              <p:par>
                                <p:cTn id="263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303" presetID="10" presetClass="entr" presetSubtype="0" fill="hold" grpId="26301" nodeType="withPrevious" dur="7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04" dur="1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05" fill="hold">
                            <p:stCondLst>
                              <p:cond delay="0"/>
                            </p:stCondLst>
                            <p:childTnLst>
                              <p:par>
                                <p:cTn id="263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307" presetID="10" presetClass="entr" presetSubtype="0" fill="hold" grpId="26305" nodeType="withPrevious" dur="7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08" dur="1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09" fill="hold">
                            <p:stCondLst>
                              <p:cond delay="300"/>
                            </p:stCondLst>
                            <p:childTnLst>
                              <p:par>
                                <p:cTn id="263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311" presetID="10" presetClass="entr" presetSubtype="0" fill="hold" grpId="26309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12" dur="1" fill="hold"/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13" fill="hold">
                            <p:stCondLst>
                              <p:cond delay="500"/>
                            </p:stCondLst>
                            <p:childTnLst>
                              <p:par>
                                <p:cTn id="263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315" presetID="10" presetClass="entr" presetSubtype="0" fill="hold" grpId="26313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16" dur="1" fill="hold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17" fill="hold">
                            <p:stCondLst>
                              <p:cond delay="580"/>
                            </p:stCondLst>
                            <p:childTnLst>
                              <p:par>
                                <p:cTn id="263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319" presetID="10" presetClass="entr" presetSubtype="0" fill="hold" grpId="26317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20" dur="1" fill="hold"/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21" fill="hold">
                            <p:stCondLst>
                              <p:cond delay="660"/>
                            </p:stCondLst>
                            <p:childTnLst>
                              <p:par>
                                <p:cTn id="263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323" presetID="10" presetClass="entr" presetSubtype="0" fill="hold" grpId="26321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24" dur="1" fill="hold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25" fill="hold">
                            <p:stCondLst>
                              <p:cond delay="740"/>
                            </p:stCondLst>
                            <p:childTnLst>
                              <p:par>
                                <p:cTn id="263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327" presetID="10" presetClass="entr" presetSubtype="0" fill="hold" grpId="26325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28" dur="1" fill="hold"/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29" fill="hold">
                            <p:stCondLst>
                              <p:cond delay="820"/>
                            </p:stCondLst>
                            <p:childTnLst>
                              <p:par>
                                <p:cTn id="263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331" presetID="10" presetClass="entr" presetSubtype="0" fill="hold" grpId="26329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332" dur="1" fill="hold"/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THE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344D"/>
                </a:solidFill>
                <a:latin typeface="Calibri"/>
              </a:rPr>
              <a:t>Technologies Used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4114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38B2AC"/>
              </a:gs>
              <a:gs pos="100000">
                <a:srgbClr val="06B6D4"/>
              </a:gs>
            </a:gsLst>
            <a:lin ang="8100000" scaled="0"/>
          </a:gradFill>
          <a:prstGeom prst="roundRect">
            <a:avLst>
              <a:gd name="adj" fmla="val 35000"/>
            </a:avLst>
          </a:prstGeom>
          <a:xfrm>
            <a:off x="502920" y="1874519"/>
            <a:ext cx="5394960" cy="530352"/>
          </a:xfr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938528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2AC"/>
                </a:solidFill>
                <a:latin typeface="Calibri"/>
              </a:rP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56816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Frontend  —  Flutter / Dart</a:t>
            </a:r>
          </a:p>
        </p:txBody>
      </p:sp>
      <p:sp>
        <p:nvSpPr>
          <p:cNvPr id="11" name="Rectangle 10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2542032"/>
            <a:ext cx="5394960" cy="603504"/>
          </a:xfrm>
          <a:solidFill>
            <a:srgbClr val="F8FAFC"/>
          </a:solidFill>
          <a:ln w="1524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" y="2715768"/>
            <a:ext cx="256032" cy="256032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7860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Flutter 3 + Dart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712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Cross-platform: Android, iOS, Web, Desktop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3246120"/>
            <a:ext cx="5394960" cy="603504"/>
          </a:xfrm>
          <a:solidFill>
            <a:srgbClr val="F8FAF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" y="3419856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8269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speech_to_text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753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Voice search input for AI recommendation flow</a:t>
            </a:r>
          </a:p>
        </p:txBody>
      </p:sp>
      <p:sp>
        <p:nvSpPr>
          <p:cNvPr id="19" name="Rectangle 1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3950208"/>
            <a:ext cx="5394960" cy="603504"/>
          </a:xfr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" y="4123944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8678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geolocator + flutter_map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793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GPS acquisition + Haversine proximity</a:t>
            </a:r>
          </a:p>
        </p:txBody>
      </p:sp>
      <p:sp>
        <p:nvSpPr>
          <p:cNvPr id="23" name="Rectangle 22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4654296"/>
            <a:ext cx="5394960" cy="603504"/>
          </a:xfr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" y="4828032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908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table_calendar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Provider availability slot selection UI</a:t>
            </a:r>
          </a:p>
        </p:txBody>
      </p:sp>
      <p:sp>
        <p:nvSpPr>
          <p:cNvPr id="27" name="Rectangle 26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5358384"/>
            <a:ext cx="5394960" cy="603504"/>
          </a:xfrm>
          <a:solidFill>
            <a:srgbClr val="F8FAFC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6072" y="5532120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http  +  shared_preferences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875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REST calls, session token storage</a:t>
            </a:r>
          </a:p>
        </p:txBody>
      </p:sp>
      <p:sp>
        <p:nvSpPr>
          <p:cNvPr id="31" name="Rectangle 30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02920" y="6062472"/>
            <a:ext cx="5394960" cy="603504"/>
          </a:xfrm>
          <a:solidFill>
            <a:srgbClr val="F8FAFC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6072" y="6236208"/>
            <a:ext cx="256032" cy="256032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09904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pdf  +  printing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3916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Prescription &amp; report PDF generation</a:t>
            </a:r>
          </a:p>
        </p:txBody>
      </p:sp>
      <p:sp>
        <p:nvSpPr>
          <p:cNvPr id="35" name="Rectangle 34"/>
          <p:cNvSpPr/>
          <p:nvPr/>
        </p:nvSpPr>
        <p:spPr>
          <a:gradFill>
            <a:gsLst>
              <a:gs pos="0">
                <a:srgbClr val="06B6D4"/>
              </a:gs>
              <a:gs pos="100000">
                <a:srgbClr val="818CF8"/>
              </a:gs>
            </a:gsLst>
            <a:lin ang="8100000" scaled="0"/>
          </a:gradFill>
          <a:prstGeom prst="roundRect">
            <a:avLst>
              <a:gd name="adj" fmla="val 35000"/>
            </a:avLst>
          </a:prstGeom>
          <a:xfrm>
            <a:off x="6291072" y="1874519"/>
            <a:ext cx="5394960" cy="530352"/>
          </a:xfr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82512" y="1938528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9202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2" y="1956816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Backend  —  Node.js / Express</a:t>
            </a:r>
          </a:p>
        </p:txBody>
      </p:sp>
      <p:sp>
        <p:nvSpPr>
          <p:cNvPr id="39" name="Rectangle 3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6291072" y="2542032"/>
            <a:ext cx="5394960" cy="603504"/>
          </a:xfrm>
          <a:solidFill>
            <a:srgbClr val="F8FAFC"/>
          </a:solidFill>
          <a:ln w="1524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4" y="2715768"/>
            <a:ext cx="256032" cy="256032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02552" y="257860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Express.js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2552" y="28712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12 route groups · REST API · port 3000</a:t>
            </a:r>
          </a:p>
        </p:txBody>
      </p:sp>
      <p:sp>
        <p:nvSpPr>
          <p:cNvPr id="43" name="Rectangle 42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6291072" y="3246120"/>
            <a:ext cx="5394960" cy="603504"/>
          </a:xfrm>
          <a:solidFill>
            <a:srgbClr val="F8FAFC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64224" y="3419856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02552" y="3282696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MySQL2  +  pool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2552" y="35753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utf8mb4 charset · schema-adaptive migrations</a:t>
            </a:r>
          </a:p>
        </p:txBody>
      </p:sp>
      <p:sp>
        <p:nvSpPr>
          <p:cNvPr id="47" name="Rectangle 46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6291072" y="3950208"/>
            <a:ext cx="5394960" cy="603504"/>
          </a:xfr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64224" y="4123944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02552" y="398678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bcrypt  +  OTP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2552" y="42793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Password hashing · Phone (Twilio) + Email OTP</a:t>
            </a:r>
          </a:p>
        </p:txBody>
      </p:sp>
      <p:sp>
        <p:nvSpPr>
          <p:cNvPr id="51" name="Rectangle 50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6291072" y="4654296"/>
            <a:ext cx="5394960" cy="603504"/>
          </a:xfr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64224" y="4828032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02552" y="4690872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multer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2552" y="4983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Image, PDF, voice uploads up to 25 MB</a:t>
            </a:r>
          </a:p>
        </p:txBody>
      </p:sp>
      <p:sp>
        <p:nvSpPr>
          <p:cNvPr id="55" name="Rectangle 5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6291072" y="5358384"/>
            <a:ext cx="5394960" cy="603504"/>
          </a:xfrm>
          <a:solidFill>
            <a:srgbClr val="F8FAFC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364224" y="5532120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02552" y="539496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nodemailer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02552" y="56875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SMTP email verification codes</a:t>
            </a:r>
          </a:p>
        </p:txBody>
      </p:sp>
      <p:sp>
        <p:nvSpPr>
          <p:cNvPr id="59" name="Rectangle 5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6291072" y="6062472"/>
            <a:ext cx="5394960" cy="603504"/>
          </a:xfrm>
          <a:solidFill>
            <a:srgbClr val="F8FAFC"/>
          </a:solidFill>
          <a:ln w="1524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64224" y="6236208"/>
            <a:ext cx="256032" cy="256032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02552" y="609904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2344D"/>
                </a:solidFill>
                <a:latin typeface="Calibri"/>
              </a:rPr>
              <a:t>crypto (randomUUID)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02552" y="63916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Booking, payment, session UUID generation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6461" dur="indefinite" restart="whenNotActive" nodeType="tmRoot">
          <p:childTnLst>
            <p:seq concurrent="1" nextAc="seek">
              <p:cTn id="26462" dur="indefinite" nodeType="mainSeq">
                <p:childTnLst>
                  <p:par>
                    <p:cTn id="26463" fill="hold">
                      <p:stCondLst>
                        <p:cond delay="0"/>
                      </p:stCondLst>
                      <p:childTnLst>
                        <p:par>
                          <p:cTn id="26401" fill="hold">
                            <p:stCondLst>
                              <p:cond delay="0"/>
                            </p:stCondLst>
                            <p:childTnLst>
                              <p:par>
                                <p:cTn id="264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03" presetID="10" presetClass="entr" presetSubtype="0" fill="hold" grpId="264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05" fill="hold">
                            <p:stCondLst>
                              <p:cond delay="150"/>
                            </p:stCondLst>
                            <p:childTnLst>
                              <p:par>
                                <p:cTn id="264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07" presetID="10" presetClass="entr" presetSubtype="0" fill="hold" grpId="26405" nodeType="withPrevious" dur="5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08" dur="1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09" fill="hold">
                            <p:stCondLst>
                              <p:cond delay="300"/>
                            </p:stCondLst>
                            <p:childTnLst>
                              <p:par>
                                <p:cTn id="264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11" presetID="10" presetClass="entr" presetSubtype="0" fill="hold" grpId="26409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12" dur="1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13" fill="hold">
                            <p:stCondLst>
                              <p:cond delay="370"/>
                            </p:stCondLst>
                            <p:childTnLst>
                              <p:par>
                                <p:cTn id="264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15" presetID="10" presetClass="entr" presetSubtype="0" fill="hold" grpId="26413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16" dur="1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17" fill="hold">
                            <p:stCondLst>
                              <p:cond delay="440"/>
                            </p:stCondLst>
                            <p:childTnLst>
                              <p:par>
                                <p:cTn id="264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19" presetID="10" presetClass="entr" presetSubtype="0" fill="hold" grpId="26417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20" dur="1" fill="hold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21" fill="hold">
                            <p:stCondLst>
                              <p:cond delay="510"/>
                            </p:stCondLst>
                            <p:childTnLst>
                              <p:par>
                                <p:cTn id="264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23" presetID="10" presetClass="entr" presetSubtype="0" fill="hold" grpId="26421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24" dur="1" fill="hold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25" fill="hold">
                            <p:stCondLst>
                              <p:cond delay="580"/>
                            </p:stCondLst>
                            <p:childTnLst>
                              <p:par>
                                <p:cTn id="264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27" presetID="10" presetClass="entr" presetSubtype="0" fill="hold" grpId="26425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28" dur="1" fill="hold"/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29" fill="hold">
                            <p:stCondLst>
                              <p:cond delay="650"/>
                            </p:stCondLst>
                            <p:childTnLst>
                              <p:par>
                                <p:cTn id="264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31" presetID="10" presetClass="entr" presetSubtype="0" fill="hold" grpId="26429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32" dur="1" fill="hold"/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33" fill="hold">
                            <p:stCondLst>
                              <p:cond delay="270"/>
                            </p:stCondLst>
                            <p:childTnLst>
                              <p:par>
                                <p:cTn id="2643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35" presetID="10" presetClass="entr" presetSubtype="0" fill="hold" grpId="26433" nodeType="withPrevious" dur="5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36" dur="1" fill="hold"/>
                                              <p:tgtEl>
                                                <p:spTgt spid="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37" fill="hold">
                            <p:stCondLst>
                              <p:cond delay="420"/>
                            </p:stCondLst>
                            <p:childTnLst>
                              <p:par>
                                <p:cTn id="264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39" presetID="10" presetClass="entr" presetSubtype="0" fill="hold" grpId="26437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40" dur="1" fill="hold"/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41" fill="hold">
                            <p:stCondLst>
                              <p:cond delay="490"/>
                            </p:stCondLst>
                            <p:childTnLst>
                              <p:par>
                                <p:cTn id="2644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43" presetID="10" presetClass="entr" presetSubtype="0" fill="hold" grpId="26441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44" dur="1" fill="hold"/>
                                              <p:tgtEl>
                                                <p:spTgt spid="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45" fill="hold">
                            <p:stCondLst>
                              <p:cond delay="560"/>
                            </p:stCondLst>
                            <p:childTnLst>
                              <p:par>
                                <p:cTn id="2644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47" presetID="10" presetClass="entr" presetSubtype="0" fill="hold" grpId="26445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48" dur="1" fill="hold"/>
                                              <p:tgtEl>
                                                <p:spTgt spid="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49" fill="hold">
                            <p:stCondLst>
                              <p:cond delay="630"/>
                            </p:stCondLst>
                            <p:childTnLst>
                              <p:par>
                                <p:cTn id="264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51" presetID="10" presetClass="entr" presetSubtype="0" fill="hold" grpId="26449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52" dur="1" fill="hold"/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53" fill="hold">
                            <p:stCondLst>
                              <p:cond delay="700"/>
                            </p:stCondLst>
                            <p:childTnLst>
                              <p:par>
                                <p:cTn id="2645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55" presetID="10" presetClass="entr" presetSubtype="0" fill="hold" grpId="26453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56" dur="1" fill="hold"/>
                                              <p:tgtEl>
                                                <p:spTgt spid="5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57" fill="hold">
                            <p:stCondLst>
                              <p:cond delay="770"/>
                            </p:stCondLst>
                            <p:childTnLst>
                              <p:par>
                                <p:cTn id="2645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459" presetID="10" presetClass="entr" presetSubtype="0" fill="hold" grpId="26457" nodeType="withPrevious" dur="5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460" dur="1" fill="hold"/>
                                              <p:tgtEl>
                                                <p:spTgt spid="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344D"/>
                </a:solidFill>
                <a:latin typeface="Calibri"/>
              </a:rPr>
              <a:t>Future Roadmap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4114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640080" y="3177540"/>
            <a:ext cx="10789920" cy="4572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20000"/>
            </a:avLst>
          </a:prstGeom>
          <a:xfrm>
            <a:off x="1188720" y="2148840"/>
            <a:ext cx="1417320" cy="804672"/>
          </a:xfrm>
          <a:solidFill>
            <a:srgbClr val="FFFFFF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2AC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237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Production-Ready</a:t>
            </a:r>
          </a:p>
        </p:txBody>
      </p:sp>
      <p:sp>
        <p:nvSpPr>
          <p:cNvPr id="11" name="Oval 10"/>
          <p:cNvSpPr/>
          <p:nvPr/>
        </p:nvSpPr>
        <p:spPr>
          <a:xfrm>
            <a:off x="1696212" y="2999232"/>
            <a:ext cx="402336" cy="402336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68196" y="2871216"/>
            <a:ext cx="658368" cy="658368"/>
          </a:xfrm>
          <a:prstGeom prst="ellipse">
            <a:avLst/>
          </a:prstGeom>
          <a:noFill/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1197864" y="3675888"/>
            <a:ext cx="3429000" cy="242316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1143000" y="3611880"/>
            <a:ext cx="3429000" cy="2423160"/>
          </a:xfrm>
          <a:solidFill>
            <a:srgbClr val="FFFFFF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gradFill>
            <a:gsLst>
              <a:gs pos="0">
                <a:srgbClr val="38B2AC"/>
              </a:gs>
              <a:gs pos="100000">
                <a:srgbClr val="60DAD4"/>
              </a:gs>
            </a:gsLst>
            <a:lin ang="8100000" scaled="0"/>
          </a:gradFill>
          <a:xfrm>
            <a:off x="1143000" y="3611880"/>
            <a:ext cx="3429000" cy="5943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71016" y="3922776"/>
            <a:ext cx="146304" cy="146304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3776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Real payment gateway (Stripe / HyperPay)</a:t>
            </a:r>
          </a:p>
        </p:txBody>
      </p:sp>
      <p:sp>
        <p:nvSpPr>
          <p:cNvPr id="18" name="Oval 17"/>
          <p:cNvSpPr/>
          <p:nvPr/>
        </p:nvSpPr>
        <p:spPr>
          <a:xfrm>
            <a:off x="1271016" y="4453128"/>
            <a:ext cx="146304" cy="146304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27048" y="43068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Firebase Cloud Messaging push notifications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1271016" y="4983480"/>
            <a:ext cx="146304" cy="146304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7048" y="48371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JWT authentication (replace userId-as-token)</a:t>
            </a:r>
          </a:p>
        </p:txBody>
      </p:sp>
      <p:sp>
        <p:nvSpPr>
          <p:cNvPr id="22" name="Oval 21"/>
          <p:cNvSpPr/>
          <p:nvPr/>
        </p:nvSpPr>
        <p:spPr>
          <a:xfrm>
            <a:off x="1271016" y="5513832"/>
            <a:ext cx="146304" cy="146304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7048" y="53675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Rate limiting and input validation middleware</a:t>
            </a:r>
          </a:p>
        </p:txBody>
      </p:sp>
      <p:sp>
        <p:nvSpPr>
          <p:cNvPr id="24" name="Rectangle 23"/>
          <p:cNvSpPr/>
          <p:nvPr/>
        </p:nvSpPr>
        <p:spPr>
          <a:prstGeom prst="roundRect">
            <a:avLst>
              <a:gd name="adj" fmla="val 20000"/>
            </a:avLst>
          </a:prstGeom>
          <a:xfrm>
            <a:off x="4526280" y="2148840"/>
            <a:ext cx="1417320" cy="804672"/>
          </a:xfr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1945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5237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Enhanced Clinical</a:t>
            </a:r>
          </a:p>
        </p:txBody>
      </p:sp>
      <p:sp>
        <p:nvSpPr>
          <p:cNvPr id="27" name="Oval 26"/>
          <p:cNvSpPr/>
          <p:nvPr/>
        </p:nvSpPr>
        <p:spPr>
          <a:xfrm>
            <a:off x="5033772" y="2999232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05756" y="2871216"/>
            <a:ext cx="658368" cy="658368"/>
          </a:xfrm>
          <a:prstGeom prst="ellipse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535424" y="3675888"/>
            <a:ext cx="3429000" cy="242316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480560" y="3611880"/>
            <a:ext cx="3429000" cy="2423160"/>
          </a:xfr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gradFill>
            <a:gsLst>
              <a:gs pos="0">
                <a:srgbClr val="06B6D4"/>
              </a:gs>
              <a:gs pos="100000">
                <a:srgbClr val="2EDEFC"/>
              </a:gs>
            </a:gsLst>
            <a:lin ang="8100000" scaled="0"/>
          </a:gradFill>
          <a:xfrm>
            <a:off x="4480560" y="3611880"/>
            <a:ext cx="3429000" cy="5943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08576" y="3922776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4608" y="3776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Video consultation module</a:t>
            </a:r>
          </a:p>
        </p:txBody>
      </p:sp>
      <p:sp>
        <p:nvSpPr>
          <p:cNvPr id="34" name="Oval 33"/>
          <p:cNvSpPr/>
          <p:nvPr/>
        </p:nvSpPr>
        <p:spPr>
          <a:xfrm>
            <a:off x="4608576" y="445312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8" y="43068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In-app prescription PDF generation</a:t>
            </a:r>
          </a:p>
        </p:txBody>
      </p:sp>
      <p:sp>
        <p:nvSpPr>
          <p:cNvPr id="36" name="Oval 35"/>
          <p:cNvSpPr/>
          <p:nvPr/>
        </p:nvSpPr>
        <p:spPr>
          <a:xfrm>
            <a:off x="4608576" y="4983480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48371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Lab result upload with OCR parsing</a:t>
            </a:r>
          </a:p>
        </p:txBody>
      </p:sp>
      <p:sp>
        <p:nvSpPr>
          <p:cNvPr id="38" name="Oval 37"/>
          <p:cNvSpPr/>
          <p:nvPr/>
        </p:nvSpPr>
        <p:spPr>
          <a:xfrm>
            <a:off x="4608576" y="5513832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64608" y="53675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Doctor-to-doctor referral workflow</a:t>
            </a:r>
          </a:p>
        </p:txBody>
      </p:sp>
      <p:sp>
        <p:nvSpPr>
          <p:cNvPr id="40" name="Rectangle 39"/>
          <p:cNvSpPr/>
          <p:nvPr/>
        </p:nvSpPr>
        <p:spPr>
          <a:prstGeom prst="roundRect">
            <a:avLst>
              <a:gd name="adj" fmla="val 20000"/>
            </a:avLst>
          </a:prstGeom>
          <a:xfrm>
            <a:off x="7863840" y="2148840"/>
            <a:ext cx="1417320" cy="804672"/>
          </a:xfrm>
          <a:solidFill>
            <a:srgbClr val="FFFF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21945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18CF8"/>
                </a:solidFill>
                <a:latin typeface="Calibri"/>
              </a:rP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25237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AI &amp; Wearables</a:t>
            </a:r>
          </a:p>
        </p:txBody>
      </p:sp>
      <p:sp>
        <p:nvSpPr>
          <p:cNvPr id="43" name="Oval 42"/>
          <p:cNvSpPr/>
          <p:nvPr/>
        </p:nvSpPr>
        <p:spPr>
          <a:xfrm>
            <a:off x="8371332" y="2999232"/>
            <a:ext cx="402336" cy="402336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243316" y="2871216"/>
            <a:ext cx="658368" cy="658368"/>
          </a:xfrm>
          <a:prstGeom prst="ellipse">
            <a:avLst/>
          </a:prstGeom>
          <a:noFill/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7872984" y="3675888"/>
            <a:ext cx="3429000" cy="242316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7818120" y="3611880"/>
            <a:ext cx="3429000" cy="2423160"/>
          </a:xfrm>
          <a:solidFill>
            <a:srgbClr val="FFFF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gradFill>
            <a:gsLst>
              <a:gs pos="0">
                <a:srgbClr val="818CF8"/>
              </a:gs>
              <a:gs pos="100000">
                <a:srgbClr val="A9B4FF"/>
              </a:gs>
            </a:gsLst>
            <a:lin ang="8100000" scaled="0"/>
          </a:gradFill>
          <a:xfrm>
            <a:off x="7818120" y="3611880"/>
            <a:ext cx="3429000" cy="5943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46136" y="3922776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2168" y="3776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ML-trained recommendation model</a:t>
            </a:r>
          </a:p>
        </p:txBody>
      </p:sp>
      <p:sp>
        <p:nvSpPr>
          <p:cNvPr id="50" name="Oval 49"/>
          <p:cNvSpPr/>
          <p:nvPr/>
        </p:nvSpPr>
        <p:spPr>
          <a:xfrm>
            <a:off x="7946136" y="4453128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02168" y="43068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Wearable device (heart rate, glucose) integration</a:t>
            </a:r>
          </a:p>
        </p:txBody>
      </p:sp>
      <p:sp>
        <p:nvSpPr>
          <p:cNvPr id="52" name="Oval 51"/>
          <p:cNvSpPr/>
          <p:nvPr/>
        </p:nvSpPr>
        <p:spPr>
          <a:xfrm>
            <a:off x="7946136" y="4983480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02168" y="48371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Predictive scheduling from visit history</a:t>
            </a:r>
          </a:p>
        </p:txBody>
      </p:sp>
      <p:sp>
        <p:nvSpPr>
          <p:cNvPr id="54" name="Oval 53"/>
          <p:cNvSpPr/>
          <p:nvPr/>
        </p:nvSpPr>
        <p:spPr>
          <a:xfrm>
            <a:off x="7946136" y="5513832"/>
            <a:ext cx="146304" cy="146304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2168" y="53675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Multi-language NLP symptom parsing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6529" dur="indefinite" restart="whenNotActive" nodeType="tmRoot">
          <p:childTnLst>
            <p:seq concurrent="1" nextAc="seek">
              <p:cTn id="26530" dur="indefinite" nodeType="mainSeq">
                <p:childTnLst>
                  <p:par>
                    <p:cTn id="26531" fill="hold">
                      <p:stCondLst>
                        <p:cond delay="0"/>
                      </p:stCondLst>
                      <p:childTnLst>
                        <p:par>
                          <p:cTn id="26501" fill="hold">
                            <p:stCondLst>
                              <p:cond delay="0"/>
                            </p:stCondLst>
                            <p:childTnLst>
                              <p:par>
                                <p:cTn id="265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503" presetID="10" presetClass="entr" presetSubtype="0" fill="hold" grpId="265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5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05" fill="hold">
                            <p:stCondLst>
                              <p:cond delay="300"/>
                            </p:stCondLst>
                            <p:childTnLst>
                              <p:par>
                                <p:cTn id="265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507" presetID="10" presetClass="entr" presetSubtype="0" fill="hold" grpId="26505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508" dur="1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09" fill="hold">
                            <p:stCondLst>
                              <p:cond delay="450"/>
                            </p:stCondLst>
                            <p:childTnLst>
                              <p:par>
                                <p:cTn id="265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511" presetID="10" presetClass="entr" presetSubtype="0" fill="hold" grpId="26509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512" dur="1" fill="hold"/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13" fill="hold">
                            <p:stCondLst>
                              <p:cond delay="300"/>
                            </p:stCondLst>
                            <p:childTnLst>
                              <p:par>
                                <p:cTn id="265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515" presetID="10" presetClass="entr" presetSubtype="0" fill="hold" grpId="26513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516" dur="1" fill="hold"/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17" fill="hold">
                            <p:stCondLst>
                              <p:cond delay="450"/>
                            </p:stCondLst>
                            <p:childTnLst>
                              <p:par>
                                <p:cTn id="265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519" presetID="10" presetClass="entr" presetSubtype="0" fill="hold" grpId="26517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520" dur="1" fill="hold"/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21" fill="hold">
                            <p:stCondLst>
                              <p:cond delay="300"/>
                            </p:stCondLst>
                            <p:childTnLst>
                              <p:par>
                                <p:cTn id="265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523" presetID="10" presetClass="entr" presetSubtype="0" fill="hold" grpId="2652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524" dur="1" fill="hold"/>
                                              <p:tgtEl>
                                                <p:spTgt spid="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25" fill="hold">
                            <p:stCondLst>
                              <p:cond delay="450"/>
                            </p:stCondLst>
                            <p:childTnLst>
                              <p:par>
                                <p:cTn id="265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527" presetID="10" presetClass="entr" presetSubtype="0" fill="hold" grpId="26525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528" dur="1" fill="hold"/>
                                              <p:tgtEl>
                                                <p:spTgt spid="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0" y="0"/>
            <a:ext cx="12188952" cy="5029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2AC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344D"/>
                </a:solidFill>
                <a:latin typeface="Calibri"/>
              </a:rPr>
              <a:t>What CareLink Delivers</a:t>
            </a:r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731520" y="1737360"/>
            <a:ext cx="1097280" cy="4114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512064" y="1993392"/>
            <a:ext cx="3520440" cy="36576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57200" y="1920240"/>
            <a:ext cx="3520440" cy="3657600"/>
          </a:xfrm>
          <a:solidFill>
            <a:srgbClr val="FFFFFF"/>
          </a:solidFill>
          <a:ln w="2540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gradFill>
            <a:gsLst>
              <a:gs pos="0">
                <a:srgbClr val="38B2AC"/>
              </a:gs>
              <a:gs pos="100000">
                <a:srgbClr val="6AE4CA"/>
              </a:gs>
            </a:gsLst>
            <a:lin ang="8100000" scaled="0"/>
          </a:gradFill>
          <a:xfrm>
            <a:off x="457200" y="1920240"/>
            <a:ext cx="3520440" cy="6400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02536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8B2A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97480"/>
            <a:ext cx="3191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2344D"/>
                </a:solidFill>
                <a:latin typeface="Calibri"/>
              </a:rPr>
              <a:t>Full-Stack Mobile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91840"/>
            <a:ext cx="3191256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Flutter + Node.js + MySQL serving four distinct user roles — Patient, Doctor, Nurse, and Admin — each with dedicated dashboards, governed workflows, and access-controlled APIs.</a:t>
            </a:r>
          </a:p>
        </p:txBody>
      </p:sp>
      <p:sp>
        <p:nvSpPr>
          <p:cNvPr id="14" name="Rectangle 13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306824" y="1993392"/>
            <a:ext cx="3520440" cy="36576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4251960" y="1920240"/>
            <a:ext cx="3520440" cy="3657600"/>
          </a:xfr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gradFill>
            <a:gsLst>
              <a:gs pos="0">
                <a:srgbClr val="06B6D4"/>
              </a:gs>
              <a:gs pos="100000">
                <a:srgbClr val="38E8F2"/>
              </a:gs>
            </a:gsLst>
            <a:lin ang="8100000" scaled="0"/>
          </a:gradFill>
          <a:xfrm>
            <a:off x="4251960" y="1920240"/>
            <a:ext cx="3520440" cy="6400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20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02536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B6D4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697480"/>
            <a:ext cx="3191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2344D"/>
                </a:solidFill>
                <a:latin typeface="Calibri"/>
              </a:rPr>
              <a:t>Explainable AI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91840"/>
            <a:ext cx="3191256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Hybrid content-based scoring engine that ingests OCR-extracted medical file tags, GPS distance, specialization keywords, and visit ratings to rank providers with human-readable match reasons.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101584" y="1993392"/>
            <a:ext cx="3520440" cy="3657600"/>
          </a:xfr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prstGeom prst="roundRect">
            <a:avLst>
              <a:gd name="adj" fmla="val 35000"/>
            </a:avLst>
          </a:prstGeom>
          <a:xfrm>
            <a:off x="8046720" y="1920240"/>
            <a:ext cx="3520440" cy="3657600"/>
          </a:xfr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gradFill>
            <a:gsLst>
              <a:gs pos="0">
                <a:srgbClr val="10B981"/>
              </a:gs>
              <a:gs pos="100000">
                <a:srgbClr val="42EB9F"/>
              </a:gs>
            </a:gsLst>
            <a:lin ang="8100000" scaled="0"/>
          </a:gradFill>
          <a:xfrm>
            <a:off x="8046720" y="1920240"/>
            <a:ext cx="3520440" cy="6400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3880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2002536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97480"/>
            <a:ext cx="31912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2344D"/>
                </a:solidFill>
                <a:latin typeface="Calibri"/>
              </a:rPr>
              <a:t>Governance &amp; Finance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291840"/>
            <a:ext cx="3191256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Admin rate approval gate, simulated escrow payment system, 100% / 80% cancellation refund policy, provider wallet, admin commission split — all enforced server-side.</a:t>
            </a:r>
          </a:p>
        </p:txBody>
      </p:sp>
      <p:sp>
        <p:nvSpPr>
          <p:cNvPr id="28" name="Rectangle 27"/>
          <p:cNvSpPr/>
          <p:nvPr/>
        </p:nvSpPr>
        <p:spPr>
          <a:gradFill>
            <a:gsLst>
              <a:gs pos="0">
                <a:srgbClr val="F0FDFA"/>
              </a:gs>
              <a:gs pos="100000">
                <a:srgbClr val="E0F7F4"/>
              </a:gs>
            </a:gsLst>
            <a:lin ang="8100000" scaled="0"/>
          </a:gradFill>
          <a:prstGeom prst="roundRect">
            <a:avLst>
              <a:gd name="adj" fmla="val 35000"/>
            </a:avLst>
          </a:prstGeom>
          <a:xfrm>
            <a:off x="457200" y="5742432"/>
            <a:ext cx="11247120" cy="795528"/>
          </a:xfr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521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2AC"/>
                </a:solidFill>
                <a:latin typeface="Calibri"/>
              </a:rPr>
              <a:t>CareLink demonstrates that a focused engineering team can design, build, and govern a complete digital healthcare ecosystem — from first symptom to completed home visit.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26621" dur="indefinite" restart="whenNotActive" nodeType="tmRoot">
          <p:childTnLst>
            <p:seq concurrent="1" nextAc="seek">
              <p:cTn id="26622" dur="indefinite" nodeType="mainSeq">
                <p:childTnLst>
                  <p:par>
                    <p:cTn id="26623" fill="hold">
                      <p:stCondLst>
                        <p:cond delay="0"/>
                      </p:stCondLst>
                      <p:childTnLst>
                        <p:par>
                          <p:cTn id="26601" fill="hold">
                            <p:stCondLst>
                              <p:cond delay="0"/>
                            </p:stCondLst>
                            <p:childTnLst>
                              <p:par>
                                <p:cTn id="266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603" presetID="10" presetClass="entr" presetSubtype="0" fill="hold" grpId="266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604" dur="1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05" fill="hold">
                            <p:stCondLst>
                              <p:cond delay="200"/>
                            </p:stCondLst>
                            <p:childTnLst>
                              <p:par>
                                <p:cTn id="266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607" presetID="10" presetClass="entr" presetSubtype="0" fill="hold" grpId="26605" nodeType="withPrevious" dur="6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608" dur="1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09" fill="hold">
                            <p:stCondLst>
                              <p:cond delay="350"/>
                            </p:stCondLst>
                            <p:childTnLst>
                              <p:par>
                                <p:cTn id="266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611" presetID="10" presetClass="entr" presetSubtype="0" fill="hold" grpId="26609" nodeType="withPrevious" dur="6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612" dur="1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13" fill="hold">
                            <p:stCondLst>
                              <p:cond delay="500"/>
                            </p:stCondLst>
                            <p:childTnLst>
                              <p:par>
                                <p:cTn id="266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615" presetID="10" presetClass="entr" presetSubtype="0" fill="hold" grpId="26613" nodeType="withPrevious" dur="6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616" dur="1" fill="hold"/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17" fill="hold">
                            <p:stCondLst>
                              <p:cond delay="700"/>
                            </p:stCondLst>
                            <p:childTnLst>
                              <p:par>
                                <p:cTn id="266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619" presetID="10" presetClass="entr" presetSubtype="0" fill="hold" grpId="26617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620" dur="1" fill="hold"/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12344D"/>
              </a:gs>
              <a:gs pos="100000">
                <a:srgbClr val="08504C"/>
              </a:gs>
            </a:gsLst>
            <a:lin ang="87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1352" y="-914400"/>
            <a:ext cx="4572000" cy="4572000"/>
          </a:xfrm>
          <a:prstGeom prst="ellipse">
            <a:avLst/>
          </a:prstGeom>
          <a:solidFill>
            <a:srgbClr val="DB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3931920"/>
            <a:ext cx="4023360" cy="4023360"/>
          </a:xfrm>
          <a:prstGeom prst="ellipse">
            <a:avLst/>
          </a:prstGeom>
          <a:solidFill>
            <a:srgbClr val="DF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36876" y="5029200"/>
            <a:ext cx="7315200" cy="2743200"/>
          </a:xfrm>
          <a:prstGeom prst="ellipse">
            <a:avLst/>
          </a:prstGeom>
          <a:solidFill>
            <a:srgbClr val="D2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5400000" scaled="0"/>
          </a:gradFill>
          <a:xfrm>
            <a:off x="0" y="0"/>
            <a:ext cx="9144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7F3D0"/>
                </a:solidFill>
                <a:latin typeface="Calibri"/>
              </a:rPr>
              <a:t>CareLink</a:t>
            </a:r>
          </a:p>
        </p:txBody>
      </p:sp>
      <p:sp>
        <p:nvSpPr>
          <p:cNvPr id="8" name="Rectangle 7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4265676" y="1234440"/>
            <a:ext cx="365760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7F3D0"/>
                </a:solidFill>
                <a:latin typeface="Calibri"/>
              </a:rPr>
              <a:t>Open for Questions</a:t>
            </a:r>
          </a:p>
        </p:txBody>
      </p:sp>
      <p:sp>
        <p:nvSpPr>
          <p:cNvPr id="11" name="Rectangle 10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8100000" scaled="0"/>
          </a:gradFill>
          <a:xfrm>
            <a:off x="2894076" y="3566160"/>
            <a:ext cx="6400800" cy="365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Computer Science Department  ·  Graduation Project  ·  2025 –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Supervised by:  [Dr. Supervisor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713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Team:  [Team Member Names]</a:t>
            </a:r>
          </a:p>
        </p:txBody>
      </p:sp>
      <p:sp>
        <p:nvSpPr>
          <p:cNvPr id="15" name="Rectangle 1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28116" y="5376672"/>
            <a:ext cx="1920240" cy="365760"/>
          </a:xfrm>
          <a:solidFill>
            <a:srgbClr val="063532"/>
          </a:solidFill>
          <a:ln w="1143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" y="54132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FD1C5"/>
                </a:solidFill>
                <a:latin typeface="Calibri"/>
              </a:rPr>
              <a:t>Full-Stack Platform</a:t>
            </a:r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3031236" y="5376672"/>
            <a:ext cx="1920240" cy="365760"/>
          </a:xfrm>
          <a:solidFill>
            <a:srgbClr val="063532"/>
          </a:solidFill>
          <a:ln w="1143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1236" y="54132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FD1C5"/>
                </a:solidFill>
                <a:latin typeface="Calibri"/>
              </a:rPr>
              <a:t>4 User Roles</a:t>
            </a:r>
          </a:p>
        </p:txBody>
      </p:sp>
      <p:sp>
        <p:nvSpPr>
          <p:cNvPr id="19" name="Rectangle 1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134356" y="5376672"/>
            <a:ext cx="1920240" cy="365760"/>
          </a:xfrm>
          <a:solidFill>
            <a:srgbClr val="063532"/>
          </a:solidFill>
          <a:ln w="1143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4356" y="54132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FD1C5"/>
                </a:solidFill>
                <a:latin typeface="Calibri"/>
              </a:rPr>
              <a:t>AI Engine</a:t>
            </a:r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7237476" y="5376672"/>
            <a:ext cx="1920240" cy="365760"/>
          </a:xfrm>
          <a:solidFill>
            <a:srgbClr val="063532"/>
          </a:solidFill>
          <a:ln w="1143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7476" y="54132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FD1C5"/>
                </a:solidFill>
                <a:latin typeface="Calibri"/>
              </a:rPr>
              <a:t>Governed Payments</a:t>
            </a:r>
          </a:p>
        </p:txBody>
      </p:sp>
      <p:sp>
        <p:nvSpPr>
          <p:cNvPr id="23" name="Rectangle 2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340596" y="5376672"/>
            <a:ext cx="1920240" cy="365760"/>
          </a:xfrm>
          <a:solidFill>
            <a:srgbClr val="063532"/>
          </a:solidFill>
          <a:ln w="1143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0596" y="54132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FD1C5"/>
                </a:solidFill>
                <a:latin typeface="Calibri"/>
              </a:rPr>
              <a:t>Bilingual</a:t>
            </a:r>
          </a:p>
        </p:txBody>
      </p:sp>
      <p:sp>
        <p:nvSpPr>
          <p:cNvPr id="25" name="Oval 24"/>
          <p:cNvSpPr/>
          <p:nvPr/>
        </p:nvSpPr>
        <p:spPr>
          <a:xfrm>
            <a:off x="9738360" y="5440680"/>
            <a:ext cx="1371600" cy="1371600"/>
          </a:xfrm>
          <a:prstGeom prst="ellipse">
            <a:avLst/>
          </a:prstGeom>
          <a:noFill/>
          <a:ln w="1016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5400000" scaled="0"/>
          </a:gradFill>
          <a:xfrm>
            <a:off x="10332720" y="5779008"/>
            <a:ext cx="182880" cy="69494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gradFill>
            <a:gsLst>
              <a:gs pos="0">
                <a:srgbClr val="4FD1C5"/>
              </a:gs>
              <a:gs pos="100000">
                <a:srgbClr val="06B6D4"/>
              </a:gs>
            </a:gsLst>
            <a:lin ang="0" scaled="0"/>
          </a:gradFill>
          <a:xfrm>
            <a:off x="10076688" y="6035040"/>
            <a:ext cx="694944" cy="1828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  <p:timing>
    <p:tnLst>
      <p:par>
        <p:cTn id="26733" dur="indefinite" restart="whenNotActive" nodeType="tmRoot">
          <p:childTnLst>
            <p:seq concurrent="1" nextAc="seek">
              <p:cTn id="26734" dur="indefinite" nodeType="mainSeq">
                <p:childTnLst>
                  <p:par>
                    <p:cTn id="26735" fill="hold">
                      <p:stCondLst>
                        <p:cond delay="0"/>
                      </p:stCondLst>
                      <p:childTnLst>
                        <p:par>
                          <p:cTn id="26701" fill="hold">
                            <p:stCondLst>
                              <p:cond delay="0"/>
                            </p:stCondLst>
                            <p:childTnLst>
                              <p:par>
                                <p:cTn id="267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03" presetID="10" presetClass="entr" presetSubtype="0" fill="hold" grpId="26701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04" dur="1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05" fill="hold">
                            <p:stCondLst>
                              <p:cond delay="150"/>
                            </p:stCondLst>
                            <p:childTnLst>
                              <p:par>
                                <p:cTn id="2670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07" presetID="10" presetClass="entr" presetSubtype="0" fill="hold" grpId="26705" nodeType="withPrevious" dur="7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08" dur="1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09" fill="hold">
                            <p:stCondLst>
                              <p:cond delay="400"/>
                            </p:stCondLst>
                            <p:childTnLst>
                              <p:par>
                                <p:cTn id="2671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11" presetID="10" presetClass="entr" presetSubtype="0" fill="hold" grpId="26709" nodeType="withPrevious" dur="60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12" dur="1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13" fill="hold">
                            <p:stCondLst>
                              <p:cond delay="650"/>
                            </p:stCondLst>
                            <p:childTnLst>
                              <p:par>
                                <p:cTn id="267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15" presetID="10" presetClass="entr" presetSubtype="0" fill="hold" grpId="26713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16" dur="1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17" fill="hold">
                            <p:stCondLst>
                              <p:cond delay="730"/>
                            </p:stCondLst>
                            <p:childTnLst>
                              <p:par>
                                <p:cTn id="2671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19" presetID="10" presetClass="entr" presetSubtype="0" fill="hold" grpId="26717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20" dur="1" fill="hold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21" fill="hold">
                            <p:stCondLst>
                              <p:cond delay="810"/>
                            </p:stCondLst>
                            <p:childTnLst>
                              <p:par>
                                <p:cTn id="2672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23" presetID="10" presetClass="entr" presetSubtype="0" fill="hold" grpId="26721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24" dur="1" fill="hold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25" fill="hold">
                            <p:stCondLst>
                              <p:cond delay="890"/>
                            </p:stCondLst>
                            <p:childTnLst>
                              <p:par>
                                <p:cTn id="267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27" presetID="10" presetClass="entr" presetSubtype="0" fill="hold" grpId="26725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28" dur="1" fill="hold"/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29" fill="hold">
                            <p:stCondLst>
                              <p:cond delay="970"/>
                            </p:stCondLst>
                            <p:childTnLst>
                              <p:par>
                                <p:cTn id="2673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6731" presetID="10" presetClass="entr" presetSubtype="0" fill="hold" grpId="26729" nodeType="withPrevious" dur="450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732" dur="1" fill="hold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/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