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F172A"/>
              </a:gs>
              <a:gs pos="100000">
                <a:srgbClr val="074A45"/>
              </a:gs>
            </a:gsLst>
            <a:lin ang="84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097280"/>
            <a:ext cx="4023360" cy="4023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0"/>
            <a:ext cx="2743200" cy="2743200"/>
          </a:xfrm>
          <a:prstGeom prst="ellipse">
            <a:avLst/>
          </a:prstGeom>
          <a:solidFill>
            <a:srgbClr val="06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4389120"/>
            <a:ext cx="1828800" cy="1828800"/>
          </a:xfrm>
          <a:prstGeom prst="ellipse">
            <a:avLst/>
          </a:prstGeom>
          <a:solidFill>
            <a:srgbClr val="06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0" y="457200"/>
            <a:ext cx="1280160" cy="1280160"/>
          </a:xfrm>
          <a:prstGeom prst="ellipse">
            <a:avLst/>
          </a:prstGeom>
          <a:solidFill>
            <a:srgbClr val="09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5400000" scaled="0"/>
          </a:gradFill>
          <a:xfrm>
            <a:off x="0" y="0"/>
            <a:ext cx="109728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CareLink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5EEAD4"/>
              </a:gs>
              <a:gs pos="100000">
                <a:srgbClr val="A5F3FC"/>
              </a:gs>
            </a:gsLst>
            <a:lin ang="8100000" scaled="0"/>
          </a:gradFill>
          <a:xfrm>
            <a:off x="914400" y="2423160"/>
            <a:ext cx="502920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EEAD4"/>
                </a:solidFill>
                <a:latin typeface="Calibri"/>
              </a:rPr>
              <a:t>AI-Powered Home Healthcare, Redefined</a:t>
            </a:r>
          </a:p>
        </p:txBody>
      </p:sp>
      <p:sp>
        <p:nvSpPr>
          <p:cNvPr id="11" name="Rectangle 1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914400" y="3291840"/>
            <a:ext cx="1691640" cy="329184"/>
          </a:xfrm>
          <a:solidFill>
            <a:srgbClr val="0F5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9272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EEAD4"/>
                </a:solidFill>
                <a:latin typeface="Calibri"/>
              </a:rPr>
              <a:t>👤  Patient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2834640" y="3291840"/>
            <a:ext cx="1691640" cy="329184"/>
          </a:xfrm>
          <a:solidFill>
            <a:srgbClr val="0F5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319272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EEAD4"/>
                </a:solidFill>
                <a:latin typeface="Calibri"/>
              </a:rPr>
              <a:t>🩺  Doctor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754880" y="3291840"/>
            <a:ext cx="1691640" cy="329184"/>
          </a:xfrm>
          <a:solidFill>
            <a:srgbClr val="0F5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319272"/>
            <a:ext cx="1691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EEAD4"/>
                </a:solidFill>
                <a:latin typeface="Calibri"/>
              </a:rPr>
              <a:t>💉  Nurse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94760"/>
            <a:ext cx="10332720" cy="13716"/>
          </a:xfrm>
          <a:prstGeom prst="rect">
            <a:avLst/>
          </a:prstGeom>
          <a:solidFill>
            <a:srgbClr val="1F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Graduation Project  ·  Computer Science Department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6110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Supervised by: [Supervisor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0857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Team: [Team Members]                                        2025 – 2026</a:t>
            </a:r>
          </a:p>
        </p:txBody>
      </p:sp>
      <p:sp>
        <p:nvSpPr>
          <p:cNvPr id="21" name="Rectangle 20"/>
          <p:cNvSpPr/>
          <p:nvPr/>
        </p:nvSpPr>
        <p:spPr>
          <a:gradFill>
            <a:gsLst>
              <a:gs pos="0">
                <a:srgbClr val="5EEAD4"/>
              </a:gs>
              <a:gs pos="100000">
                <a:srgbClr val="A5F3FC"/>
              </a:gs>
            </a:gsLst>
            <a:lin ang="8100000" scaled="0"/>
          </a:gradFill>
          <a:xfrm>
            <a:off x="9875520" y="2286000"/>
            <a:ext cx="320040" cy="10972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gradFill>
            <a:gsLst>
              <a:gs pos="0">
                <a:srgbClr val="5EEAD4"/>
              </a:gs>
              <a:gs pos="100000">
                <a:srgbClr val="A5F3FC"/>
              </a:gs>
            </a:gsLst>
            <a:lin ang="8100000" scaled="0"/>
          </a:gradFill>
          <a:xfrm>
            <a:off x="9482328" y="2624328"/>
            <a:ext cx="1097280" cy="3200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0" y="2103120"/>
            <a:ext cx="1463040" cy="1463040"/>
          </a:xfrm>
          <a:prstGeom prst="ellipse">
            <a:avLst/>
          </a:prstGeom>
          <a:noFill/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What is CareLink and who does it serve?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Calibri"/>
              </a:rPr>
              <a:t>CareLink is a full-stack mobile platform that connects patients with verified home-care doctors and nurses — enabling intelligent scheduling, AI-driven matching, secure payments, and structured medical records in a bilingual (Arabic / English) interface.</a:t>
            </a:r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48640" y="2331720"/>
            <a:ext cx="3566160" cy="36576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02920" y="2286000"/>
            <a:ext cx="3566160" cy="3657600"/>
          </a:xfrm>
          <a:solidFill>
            <a:srgbClr val="FFFFFF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A7695"/>
              </a:gs>
            </a:gsLst>
            <a:lin ang="8100000" scaled="0"/>
          </a:gradFill>
          <a:xfrm>
            <a:off x="502920" y="2286000"/>
            <a:ext cx="3566160" cy="8229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👤  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Browse &amp; book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679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AI-matched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970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Chat with care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1149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View medical records</a:t>
            </a:r>
          </a:p>
        </p:txBody>
      </p:sp>
      <p:sp>
        <p:nvSpPr>
          <p:cNvPr id="16" name="Rectangle 15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361688" y="2331720"/>
            <a:ext cx="3566160" cy="36576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315968" y="2286000"/>
            <a:ext cx="3566160" cy="3657600"/>
          </a:xfrm>
          <a:solidFill>
            <a:srgbClr val="FFFFFF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gradFill>
            <a:gsLst>
              <a:gs pos="0">
                <a:srgbClr val="06B6D4"/>
              </a:gs>
              <a:gs pos="100000">
                <a:srgbClr val="0491E9"/>
              </a:gs>
            </a:gsLst>
            <a:lin ang="8100000" scaled="0"/>
          </a:gradFill>
          <a:xfrm>
            <a:off x="4315968" y="2286000"/>
            <a:ext cx="3566160" cy="8229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2377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🩺  Doctor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246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Accept / complete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8679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Manage schedule &amp; slots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48970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Submit diagnosis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511149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View patient records</a:t>
            </a:r>
          </a:p>
        </p:txBody>
      </p:sp>
      <p:sp>
        <p:nvSpPr>
          <p:cNvPr id="24" name="Rectangle 23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165592" y="2331720"/>
            <a:ext cx="3566160" cy="36576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119872" y="2286000"/>
            <a:ext cx="3566160" cy="3657600"/>
          </a:xfr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gradFill>
            <a:gsLst>
              <a:gs pos="0">
                <a:srgbClr val="10B981"/>
              </a:gs>
              <a:gs pos="100000">
                <a:srgbClr val="0C948D"/>
              </a:gs>
            </a:gsLst>
            <a:lin ang="8100000" scaled="0"/>
          </a:gradFill>
          <a:xfrm>
            <a:off x="8119872" y="2286000"/>
            <a:ext cx="3566160" cy="8229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2377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💉  Nurse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246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Home-visit service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8679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Visit tracking &amp;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48970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Earnings &amp; 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511149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›  Availability management</a:t>
            </a:r>
          </a:p>
        </p:txBody>
      </p:sp>
      <p:sp>
        <p:nvSpPr>
          <p:cNvPr id="32" name="Rectangle 31"/>
          <p:cNvSpPr/>
          <p:nvPr/>
        </p:nvSpPr>
        <p:spPr>
          <a:gradFill>
            <a:gsLst>
              <a:gs pos="0">
                <a:srgbClr val="CCF5F1"/>
              </a:gs>
              <a:gs pos="100000">
                <a:srgbClr val="A5F3FC"/>
              </a:gs>
            </a:gsLst>
            <a:lin ang="0" scaled="0"/>
          </a:gradFill>
          <a:xfrm>
            <a:off x="0" y="6172200"/>
            <a:ext cx="12188952" cy="685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6199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488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65013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User Roles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6199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488"/>
                </a:solidFill>
                <a:latin typeface="Calibri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65013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API Route Groups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199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488"/>
                </a:solidFill>
                <a:latin typeface="Calibri"/>
              </a:rPr>
              <a:t>AR/EN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5013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Bilingual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6199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488"/>
                </a:solidFill>
                <a:latin typeface="Calibri"/>
              </a:rPr>
              <a:t>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65013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Smart Matching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F0FDFA"/>
              </a:gs>
              <a:gs pos="100000">
                <a:srgbClr val="E0F7F4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The gaps that CareLink was built to close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66344" y="1563624"/>
            <a:ext cx="3474720" cy="3840480"/>
          </a:xfrm>
          <a:solidFill>
            <a:srgbClr val="DC8E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1508760"/>
            <a:ext cx="3474720" cy="3840480"/>
          </a:xfr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1508760"/>
            <a:ext cx="3474720" cy="73152"/>
          </a:xfr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F172A"/>
                </a:solidFill>
                <a:latin typeface="Calibri"/>
              </a:rPr>
              <a:t>No Unified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375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Patients had no single trusted place to find, verify, and book home-care doctors or nurses — leading to informal, unsafe arrangements.</a:t>
            </a:r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352544" y="1563624"/>
            <a:ext cx="3474720" cy="3840480"/>
          </a:xfrm>
          <a:solidFill>
            <a:srgbClr val="E1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97680" y="1508760"/>
            <a:ext cx="3474720" cy="3840480"/>
          </a:xfrm>
          <a:solidFill>
            <a:srgbClr val="FFFFFF"/>
          </a:solidFill>
          <a:ln w="254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97680" y="1508760"/>
            <a:ext cx="3474720" cy="73152"/>
          </a:xfr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1828800"/>
            <a:ext cx="822960" cy="82296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920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F172A"/>
                </a:solidFill>
                <a:latin typeface="Calibri"/>
              </a:rPr>
              <a:t>Manual &amp; Fragmented 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375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No conflict detection, no real-time availability, no reschedule workflow. Appointments were lost to double-bookings and no-shows.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238744" y="1563624"/>
            <a:ext cx="3474720" cy="3840480"/>
          </a:xfrm>
          <a:solidFill>
            <a:srgbClr val="747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183880" y="1508760"/>
            <a:ext cx="3474720" cy="3840480"/>
          </a:xfrm>
          <a:solidFill>
            <a:srgbClr val="FFFFFF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183880" y="1508760"/>
            <a:ext cx="3474720" cy="73152"/>
          </a:xfr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0" y="1828800"/>
            <a:ext cx="822960" cy="8229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920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834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F172A"/>
                </a:solidFill>
                <a:latin typeface="Calibri"/>
              </a:rPr>
              <a:t>Opaque Payments &amp; No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3375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No clear cancellation/refund policy, no provider rate approval gate, and no escrow mechanism to protect both patient and provider.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CareLink — a complete, governed home-care platform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57200" y="1417320"/>
            <a:ext cx="4114800" cy="5120640"/>
          </a:xfrm>
          <a:solidFill>
            <a:srgbClr val="FEF9F9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7185"/>
                </a:solidFill>
                <a:latin typeface="Calibri"/>
              </a:rPr>
              <a:t>Before CareLink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✗   Scattered, unverified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✗   No booking or scheduling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✗   No payment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✗   No medical record continuity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0176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✗   No AI or intelligent matching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3977639"/>
            <a:ext cx="777240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58968" y="3931919"/>
            <a:ext cx="73152" cy="457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458968" y="3977639"/>
            <a:ext cx="73152" cy="457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669280" y="1417320"/>
            <a:ext cx="6035040" cy="5120640"/>
          </a:xfrm>
          <a:solidFill>
            <a:srgbClr val="CCF5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15544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With CareLink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1488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🔍  5-Step Intelligent Booking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514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Select → Schedule → Location → Review → Pay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9718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🤖  Explainable AI Recommendation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37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Medical record tags + GPS + rating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794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💳  Simulated Escrow Payment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160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100% / 80% refund governance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617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📋  Structured Medical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983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Disease/allergy DB + doctor &amp; nurse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54406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🔔  Real-Time Notifications + Bilingual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806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AR/EN push notifications + file/audio chat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F0FDFA"/>
              </a:gs>
              <a:gs pos="100000">
                <a:srgbClr val="E0F7F4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Six core capabilities built into the real implementation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02920" y="1554480"/>
            <a:ext cx="3566160" cy="201168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57200" y="1508760"/>
            <a:ext cx="3566160" cy="2011680"/>
          </a:xfr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57200" y="1508760"/>
            <a:ext cx="54864" cy="2011680"/>
          </a:xfr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9488"/>
                </a:solidFill>
                <a:latin typeface="Calibri"/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5-Step Booking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3055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Provider search → Date/time slot → Visit location (GPS) → Review → Mock-card payment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97680" y="1554480"/>
            <a:ext cx="3566160" cy="201168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51960" y="1508760"/>
            <a:ext cx="3566160" cy="2011680"/>
          </a:xfr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51960" y="1508760"/>
            <a:ext cx="54864" cy="2011680"/>
          </a:xfr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18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6B6D4"/>
                </a:solidFill>
                <a:latin typeface="Calibr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Real-Time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3055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In-app messaging with image, PDF, and voice attachments. Read receipts and typing indicators.</a:t>
            </a:r>
          </a:p>
        </p:txBody>
      </p:sp>
      <p:sp>
        <p:nvSpPr>
          <p:cNvPr id="19" name="Rectangle 1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092440" y="1554480"/>
            <a:ext cx="3566160" cy="201168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046720" y="1508760"/>
            <a:ext cx="3566160" cy="2011680"/>
          </a:xfr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046720" y="1508760"/>
            <a:ext cx="54864" cy="2011680"/>
          </a:xfr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618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0B981"/>
                </a:solidFill>
                <a:latin typeface="Calibri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Structured Medical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13055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Disease (ICD codes) and allergy databases with status tracking. Doctor &amp; nurse clinical notes.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02920" y="3794759"/>
            <a:ext cx="3566160" cy="201168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57200" y="3749039"/>
            <a:ext cx="3566160" cy="2011680"/>
          </a:xfr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57200" y="3749039"/>
            <a:ext cx="54864" cy="2011680"/>
          </a:xfr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85876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9E0B"/>
                </a:solidFill>
                <a:latin typeface="Calibri"/>
              </a:rPr>
              <a:t>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404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Cancellation &amp; Refund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370831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100% refund before provider acceptance. 80% refund after. 10% provider + 10% platform fee.</a:t>
            </a:r>
          </a:p>
        </p:txBody>
      </p:sp>
      <p:sp>
        <p:nvSpPr>
          <p:cNvPr id="31" name="Rectangle 3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97680" y="3794759"/>
            <a:ext cx="3566160" cy="201168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51960" y="3749039"/>
            <a:ext cx="3566160" cy="2011680"/>
          </a:xfrm>
          <a:solidFill>
            <a:srgbClr val="FFFF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51960" y="3749039"/>
            <a:ext cx="54864" cy="2011680"/>
          </a:xfr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85876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18CF8"/>
                </a:solidFill>
                <a:latin typeface="Calibri"/>
              </a:rPr>
              <a:t>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8404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Wallet &amp; Commission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370831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Provider wallet tracks pending/paid amounts. Admin commission split. Escrow ledger per transaction.</a:t>
            </a:r>
          </a:p>
        </p:txBody>
      </p:sp>
      <p:sp>
        <p:nvSpPr>
          <p:cNvPr id="37" name="Rectangle 3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092440" y="3794759"/>
            <a:ext cx="3566160" cy="201168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046720" y="3749039"/>
            <a:ext cx="3566160" cy="2011680"/>
          </a:xfrm>
          <a:solidFill>
            <a:srgbClr val="FFFFFF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046720" y="3749039"/>
            <a:ext cx="54864" cy="2011680"/>
          </a:xfr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385876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B7185"/>
                </a:solidFill>
                <a:latin typeface="Calibri"/>
              </a:rPr>
              <a:t>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38404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Calibri"/>
              </a:rPr>
              <a:t>Rate Approval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370831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Admin sets provider rate → Doctor accepts/rejects → Account activates only on mutual approval.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AI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Explainable hybrid content-based scoring — no external ML model required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65760" y="1463040"/>
            <a:ext cx="2651760" cy="987552"/>
          </a:xfrm>
          <a:solidFill>
            <a:srgbClr val="CCF5F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9488"/>
                </a:solidFill>
                <a:latin typeface="Calibri"/>
              </a:rPr>
              <a:t>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Medical File Tags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OCR text + AI analysis
(patientmedicalfile)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1956816.0"/>
            <a:ext cx="1143000" cy="0.0"/>
          </a:xfrm>
          <a:prstGeom prst="line">
            <a:avLst/>
          </a:prstGeom>
          <a:ln w="19050">
            <a:solidFill>
              <a:srgbClr val="0FB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65760" y="2587752"/>
            <a:ext cx="2651760" cy="987552"/>
          </a:xfrm>
          <a:solidFill>
            <a:srgbClr val="CCF5F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163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9488"/>
                </a:solidFill>
                <a:latin typeface="Calibri"/>
              </a:rPr>
              <a:t>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7919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Health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26664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Chronic diseases, allergies,
current medications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081528.0"/>
            <a:ext cx="1143000" cy="0.0"/>
          </a:xfrm>
          <a:prstGeom prst="line">
            <a:avLst/>
          </a:prstGeom>
          <a:ln w="19050">
            <a:solidFill>
              <a:srgbClr val="0FB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65760" y="3712464"/>
            <a:ext cx="2651760" cy="987552"/>
          </a:xfrm>
          <a:solidFill>
            <a:srgbClr val="CCF5F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4106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9488"/>
                </a:solidFill>
                <a:latin typeface="Calibri"/>
              </a:rPr>
              <a:t>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039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Search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5137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Free-text or voice-to-text
care intent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17520" y="4206240.0"/>
            <a:ext cx="1143000" cy="0.0"/>
          </a:xfrm>
          <a:prstGeom prst="line">
            <a:avLst/>
          </a:prstGeom>
          <a:ln w="19050">
            <a:solidFill>
              <a:srgbClr val="0FB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65760" y="4837176"/>
            <a:ext cx="2651760" cy="987552"/>
          </a:xfrm>
          <a:solidFill>
            <a:srgbClr val="CCF5F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6577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9488"/>
                </a:solidFill>
                <a:latin typeface="Calibri"/>
              </a:rPr>
              <a:t>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286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GPS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7608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Patient coordinates
(Haversine distance)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5330952.0"/>
            <a:ext cx="1143000" cy="0.0"/>
          </a:xfrm>
          <a:prstGeom prst="line">
            <a:avLst/>
          </a:prstGeom>
          <a:ln w="19050">
            <a:solidFill>
              <a:srgbClr val="0FB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4160520" y="1417320"/>
            <a:ext cx="3840480" cy="4480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🤖  Scoring Engine</a:t>
            </a:r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343400" y="2148840"/>
            <a:ext cx="3474720" cy="658368"/>
          </a:xfrm>
          <a:solidFill>
            <a:srgbClr val="0A6E65"/>
          </a:solidFill>
          <a:ln w="889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1854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Specialization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459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EEAD4"/>
                </a:solidFill>
                <a:latin typeface="Calibri"/>
              </a:rPr>
              <a:t>Keyword + ICD tag matching against
patient conditions &amp; search query</a:t>
            </a:r>
          </a:p>
        </p:txBody>
      </p:sp>
      <p:sp>
        <p:nvSpPr>
          <p:cNvPr id="32" name="Rectangle 3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343400" y="2880360"/>
            <a:ext cx="3474720" cy="658368"/>
          </a:xfrm>
          <a:solidFill>
            <a:srgbClr val="0A6E65"/>
          </a:solidFill>
          <a:ln w="889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Experience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1912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EEAD4"/>
                </a:solidFill>
                <a:latin typeface="Calibri"/>
              </a:rPr>
              <a:t>0.4 (junior) → 1.0 (10+ years)
Tiered weighting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343400" y="3611880"/>
            <a:ext cx="3474720" cy="658368"/>
          </a:xfrm>
          <a:solidFill>
            <a:srgbClr val="0A6E65"/>
          </a:solidFill>
          <a:ln w="889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36484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Rating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9227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EEAD4"/>
                </a:solidFill>
                <a:latin typeface="Calibri"/>
              </a:rPr>
              <a:t>Normalized 0–1 (neutral 3/5
for new providers)</a:t>
            </a:r>
          </a:p>
        </p:txBody>
      </p:sp>
      <p:sp>
        <p:nvSpPr>
          <p:cNvPr id="38" name="Rectangle 37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343400" y="4343400"/>
            <a:ext cx="3474720" cy="658368"/>
          </a:xfrm>
          <a:solidFill>
            <a:srgbClr val="0A6E65"/>
          </a:solidFill>
          <a:ln w="889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4379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Location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654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EEAD4"/>
                </a:solidFill>
                <a:latin typeface="Calibri"/>
              </a:rPr>
              <a:t>Haversine decay: ≤1km → 1.0
≤10km → 0.4</a:t>
            </a:r>
          </a:p>
        </p:txBody>
      </p:sp>
      <p:sp>
        <p:nvSpPr>
          <p:cNvPr id="41" name="Rectangle 4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343400" y="5074920"/>
            <a:ext cx="3474720" cy="658368"/>
          </a:xfrm>
          <a:solidFill>
            <a:srgbClr val="0A6E65"/>
          </a:solidFill>
          <a:ln w="889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1114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Medical Compatibility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3858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EEAD4"/>
                </a:solidFill>
                <a:latin typeface="Calibri"/>
              </a:rPr>
              <a:t>analysisTags from uploaded
records vs. specialization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001000" y="1911096.0"/>
            <a:ext cx="228600" cy="0.0"/>
          </a:xfrm>
          <a:prstGeom prst="line">
            <a:avLst/>
          </a:prstGeom>
          <a:ln w="19050">
            <a:solidFill>
              <a:srgbClr val="0FB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229600" y="1417320"/>
            <a:ext cx="3474720" cy="987552"/>
          </a:xfrm>
          <a:solidFill>
            <a:srgbClr val="F0FDFA"/>
          </a:solidFill>
          <a:ln w="1524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16459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B6D4"/>
                </a:solidFill>
                <a:latin typeface="Calibri"/>
              </a:rPr>
              <a:t>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15087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Ranked Providers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185623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finalScore + matchPercentage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01000" y="3035808.0"/>
            <a:ext cx="228600" cy="0.0"/>
          </a:xfrm>
          <a:prstGeom prst="line">
            <a:avLst/>
          </a:prstGeom>
          <a:ln w="19050">
            <a:solidFill>
              <a:srgbClr val="0FB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229600" y="2542032"/>
            <a:ext cx="3474720" cy="987552"/>
          </a:xfrm>
          <a:solidFill>
            <a:srgbClr val="F0FDFA"/>
          </a:solidFill>
          <a:ln w="1524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27706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B6D4"/>
                </a:solidFill>
                <a:latin typeface="Calibri"/>
              </a:rPr>
              <a:t>🔎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263347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Match Reason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2980944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"Recommended for cardiology
detected in your records"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001000" y="4160520.0"/>
            <a:ext cx="228600" cy="0.0"/>
          </a:xfrm>
          <a:prstGeom prst="line">
            <a:avLst/>
          </a:prstGeom>
          <a:ln w="19050">
            <a:solidFill>
              <a:srgbClr val="0FB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229600" y="3666744"/>
            <a:ext cx="3474720" cy="987552"/>
          </a:xfrm>
          <a:solidFill>
            <a:srgbClr val="F0FDFA"/>
          </a:solidFill>
          <a:ln w="1524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38953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B6D4"/>
                </a:solidFill>
                <a:latin typeface="Calibri"/>
              </a:rPr>
              <a:t>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3758184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Matched Tags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4105656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analysisTags mapped to
human-readable labels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001000" y="5285232.0"/>
            <a:ext cx="228600" cy="0.0"/>
          </a:xfrm>
          <a:prstGeom prst="line">
            <a:avLst/>
          </a:prstGeom>
          <a:ln w="19050">
            <a:solidFill>
              <a:srgbClr val="0FB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229600" y="4791456"/>
            <a:ext cx="3474720" cy="987552"/>
          </a:xfrm>
          <a:solidFill>
            <a:srgbClr val="F0FDFA"/>
          </a:solidFill>
          <a:ln w="1524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502005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B6D4"/>
                </a:solidFill>
                <a:latin typeface="Calibri"/>
              </a:rPr>
              <a:t>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48828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Score Breakdown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523036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Per-dimension score visible
for transparency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Cold-start: historyWeight = 0 until visit signals exist. Voice search via speech_to_text → rawQuery → requestedServiceKeyword.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F0FDFA"/>
              </a:gs>
              <a:gs pos="100000">
                <a:srgbClr val="E0F7F4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Flutter → Express REST API → MySQL  ·  3-Tier, 12 Route Groups, 5 Services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365760" y="1463040"/>
            <a:ext cx="2011680" cy="1325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Flutter
Clients</a:t>
            </a:r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2606040" y="1463040"/>
            <a:ext cx="2011680" cy="1325880"/>
          </a:xfr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874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Calibri"/>
              </a:rPr>
              <a:t>👤 Patient</a:t>
            </a:r>
          </a:p>
        </p:txBody>
      </p:sp>
      <p:sp>
        <p:nvSpPr>
          <p:cNvPr id="11" name="Rectangle 1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846320" y="1463040"/>
            <a:ext cx="2011680" cy="1325880"/>
          </a:xfr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874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🩺 Doctor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086600" y="1463040"/>
            <a:ext cx="2011680" cy="1325880"/>
          </a:xfr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874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💉 Nurse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9326880" y="1463040"/>
            <a:ext cx="2011680" cy="1325880"/>
          </a:xfr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874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🛡 Admin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788920"/>
            <a:ext cx="0" cy="5029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0" y="28346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9488"/>
                </a:solidFill>
                <a:latin typeface="Calibri"/>
              </a:rPr>
              <a:t>REST API  (HTTP/JSON)</a:t>
            </a:r>
          </a:p>
        </p:txBody>
      </p:sp>
      <p:sp>
        <p:nvSpPr>
          <p:cNvPr id="19" name="Rectangle 18"/>
          <p:cNvSpPr/>
          <p:nvPr/>
        </p:nvSpPr>
        <p:spPr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8100000" scaled="0"/>
          </a:gradFill>
          <a:xfrm>
            <a:off x="365760" y="3291840"/>
            <a:ext cx="2011680" cy="182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49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Express
API Layer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2606040" y="3456432"/>
            <a:ext cx="1417320" cy="292608"/>
          </a:xfrm>
          <a:solidFill>
            <a:srgbClr val="CCF5F1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34930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/patient</a:t>
            </a:r>
          </a:p>
        </p:txBody>
      </p:sp>
      <p:sp>
        <p:nvSpPr>
          <p:cNvPr id="23" name="Rectangle 2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78808" y="3456432"/>
            <a:ext cx="1417320" cy="292608"/>
          </a:xfrm>
          <a:solidFill>
            <a:srgbClr val="A5F3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8808" y="34930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76E8F"/>
                </a:solidFill>
                <a:latin typeface="Calibri"/>
              </a:rPr>
              <a:t>/doctor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751576" y="3456432"/>
            <a:ext cx="1417320" cy="292608"/>
          </a:xfrm>
          <a:solidFill>
            <a:srgbClr val="F0F9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51576" y="34930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4E89"/>
                </a:solidFill>
                <a:latin typeface="Calibri"/>
              </a:rPr>
              <a:t>/nurse</a:t>
            </a:r>
          </a:p>
        </p:txBody>
      </p:sp>
      <p:sp>
        <p:nvSpPr>
          <p:cNvPr id="27" name="Rectangle 2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324344" y="3456432"/>
            <a:ext cx="1417320" cy="292608"/>
          </a:xfrm>
          <a:solidFill>
            <a:srgbClr val="CCF5F1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24344" y="34930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/admin</a:t>
            </a:r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897112" y="3456432"/>
            <a:ext cx="1417320" cy="292608"/>
          </a:xfrm>
          <a:solidFill>
            <a:srgbClr val="A5F3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34930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76E8F"/>
                </a:solidFill>
                <a:latin typeface="Calibri"/>
              </a:rPr>
              <a:t>/payments</a:t>
            </a:r>
          </a:p>
        </p:txBody>
      </p:sp>
      <p:sp>
        <p:nvSpPr>
          <p:cNvPr id="31" name="Rectangle 3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0469880" y="3456432"/>
            <a:ext cx="1417320" cy="292608"/>
          </a:xfrm>
          <a:solidFill>
            <a:srgbClr val="F0F9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34930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4E89"/>
                </a:solidFill>
                <a:latin typeface="Calibri"/>
              </a:rPr>
              <a:t>/api/payments</a:t>
            </a:r>
          </a:p>
        </p:txBody>
      </p:sp>
      <p:sp>
        <p:nvSpPr>
          <p:cNvPr id="33" name="Rectangle 3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2606040" y="3950208"/>
            <a:ext cx="1417320" cy="292608"/>
          </a:xfrm>
          <a:solidFill>
            <a:srgbClr val="CCF5F1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40" y="3986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/recommendations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78808" y="3950208"/>
            <a:ext cx="1417320" cy="292608"/>
          </a:xfrm>
          <a:solidFill>
            <a:srgbClr val="A5F3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8808" y="3986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76E8F"/>
                </a:solidFill>
                <a:latin typeface="Calibri"/>
              </a:rPr>
              <a:t>/medical-records</a:t>
            </a:r>
          </a:p>
        </p:txBody>
      </p:sp>
      <p:sp>
        <p:nvSpPr>
          <p:cNvPr id="37" name="Rectangle 3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751576" y="3950208"/>
            <a:ext cx="1417320" cy="292608"/>
          </a:xfrm>
          <a:solidFill>
            <a:srgbClr val="F0F9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51576" y="3986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4E89"/>
                </a:solidFill>
                <a:latin typeface="Calibri"/>
              </a:rPr>
              <a:t>/providers</a:t>
            </a:r>
          </a:p>
        </p:txBody>
      </p:sp>
      <p:sp>
        <p:nvSpPr>
          <p:cNvPr id="39" name="Rectangle 3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324344" y="3950208"/>
            <a:ext cx="1417320" cy="292608"/>
          </a:xfrm>
          <a:solidFill>
            <a:srgbClr val="CCF5F1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24344" y="3986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/notifications</a:t>
            </a:r>
          </a:p>
        </p:txBody>
      </p:sp>
      <p:sp>
        <p:nvSpPr>
          <p:cNvPr id="41" name="Rectangle 4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897112" y="3950208"/>
            <a:ext cx="1417320" cy="292608"/>
          </a:xfrm>
          <a:solidFill>
            <a:srgbClr val="A5F3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3986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76E8F"/>
                </a:solidFill>
                <a:latin typeface="Calibri"/>
              </a:rPr>
              <a:t>/ratings</a:t>
            </a:r>
          </a:p>
        </p:txBody>
      </p:sp>
      <p:sp>
        <p:nvSpPr>
          <p:cNvPr id="43" name="Rectangle 4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0469880" y="3950208"/>
            <a:ext cx="1417320" cy="292608"/>
          </a:xfrm>
          <a:solidFill>
            <a:srgbClr val="F0F9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9880" y="3986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4E89"/>
                </a:solidFill>
                <a:latin typeface="Calibri"/>
              </a:rPr>
              <a:t>/email-auth</a:t>
            </a:r>
          </a:p>
        </p:txBody>
      </p:sp>
      <p:sp>
        <p:nvSpPr>
          <p:cNvPr id="45" name="Rectangle 4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2606040" y="4709160"/>
            <a:ext cx="1719072" cy="320040"/>
          </a:xfrm>
          <a:solidFill>
            <a:srgbClr val="1E293B"/>
          </a:solidFill>
          <a:ln w="10160">
            <a:solidFill>
              <a:srgbClr val="0FB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40" y="474573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EEAD4"/>
                </a:solidFill>
                <a:latin typeface="Calibri"/>
              </a:rPr>
              <a:t>⚙ bookingPayment</a:t>
            </a:r>
          </a:p>
        </p:txBody>
      </p:sp>
      <p:sp>
        <p:nvSpPr>
          <p:cNvPr id="47" name="Rectangle 4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434840" y="4709160"/>
            <a:ext cx="1719072" cy="320040"/>
          </a:xfrm>
          <a:solidFill>
            <a:srgbClr val="1E293B"/>
          </a:solidFill>
          <a:ln w="10160">
            <a:solidFill>
              <a:srgbClr val="0FB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474573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EEAD4"/>
                </a:solidFill>
                <a:latin typeface="Calibri"/>
              </a:rPr>
              <a:t>⚙ cancellationPolicy</a:t>
            </a:r>
          </a:p>
        </p:txBody>
      </p:sp>
      <p:sp>
        <p:nvSpPr>
          <p:cNvPr id="49" name="Rectangle 4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263640" y="4709160"/>
            <a:ext cx="1719072" cy="320040"/>
          </a:xfrm>
          <a:solidFill>
            <a:srgbClr val="1E293B"/>
          </a:solidFill>
          <a:ln w="10160">
            <a:solidFill>
              <a:srgbClr val="0FB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74573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EEAD4"/>
                </a:solidFill>
                <a:latin typeface="Calibri"/>
              </a:rPr>
              <a:t>⚙ aiRecommendation</a:t>
            </a:r>
          </a:p>
        </p:txBody>
      </p:sp>
      <p:sp>
        <p:nvSpPr>
          <p:cNvPr id="51" name="Rectangle 5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092440" y="4709160"/>
            <a:ext cx="1719072" cy="320040"/>
          </a:xfrm>
          <a:solidFill>
            <a:srgbClr val="1E293B"/>
          </a:solidFill>
          <a:ln w="10160">
            <a:solidFill>
              <a:srgbClr val="0FB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474573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EEAD4"/>
                </a:solidFill>
                <a:latin typeface="Calibri"/>
              </a:rPr>
              <a:t>⚙ emailOTP</a:t>
            </a:r>
          </a:p>
        </p:txBody>
      </p:sp>
      <p:sp>
        <p:nvSpPr>
          <p:cNvPr id="53" name="Rectangle 5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9921240" y="4709160"/>
            <a:ext cx="1719072" cy="320040"/>
          </a:xfrm>
          <a:solidFill>
            <a:srgbClr val="1E293B"/>
          </a:solidFill>
          <a:ln w="10160">
            <a:solidFill>
              <a:srgbClr val="0FB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1240" y="474573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EEAD4"/>
                </a:solidFill>
                <a:latin typeface="Calibri"/>
              </a:rPr>
              <a:t>⚙ notifications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80760" y="5120640"/>
            <a:ext cx="0" cy="384048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2000" y="51755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9488"/>
                </a:solidFill>
                <a:latin typeface="Calibri"/>
              </a:rPr>
              <a:t>mysql2  (connection pool)</a:t>
            </a:r>
          </a:p>
        </p:txBody>
      </p:sp>
      <p:sp>
        <p:nvSpPr>
          <p:cNvPr id="57" name="Rectangle 56"/>
          <p:cNvSpPr/>
          <p:nvPr/>
        </p:nvSpPr>
        <p:spPr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8100000" scaled="0"/>
          </a:gradFill>
          <a:xfrm>
            <a:off x="365760" y="5504688"/>
            <a:ext cx="2011680" cy="8686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5669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MySQL
Database</a:t>
            </a:r>
          </a:p>
        </p:txBody>
      </p:sp>
      <p:sp>
        <p:nvSpPr>
          <p:cNvPr id="59" name="Rectangle 5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2606040" y="5614416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6040" y="56509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user</a:t>
            </a:r>
          </a:p>
        </p:txBody>
      </p:sp>
      <p:sp>
        <p:nvSpPr>
          <p:cNvPr id="61" name="Rectangle 6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611880" y="5614416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11880" y="56509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patient</a:t>
            </a:r>
          </a:p>
        </p:txBody>
      </p:sp>
      <p:sp>
        <p:nvSpPr>
          <p:cNvPr id="63" name="Rectangle 6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617720" y="5614416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17720" y="56509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careprovider</a:t>
            </a:r>
          </a:p>
        </p:txBody>
      </p:sp>
      <p:sp>
        <p:nvSpPr>
          <p:cNvPr id="65" name="Rectangle 6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623560" y="5614416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23560" y="56509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servicerequest</a:t>
            </a:r>
          </a:p>
        </p:txBody>
      </p:sp>
      <p:sp>
        <p:nvSpPr>
          <p:cNvPr id="67" name="Rectangle 6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629400" y="5614416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29400" y="56509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payment</a:t>
            </a:r>
          </a:p>
        </p:txBody>
      </p:sp>
      <p:sp>
        <p:nvSpPr>
          <p:cNvPr id="69" name="Rectangle 6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635240" y="5614416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35240" y="56509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medicalrecord</a:t>
            </a:r>
          </a:p>
        </p:txBody>
      </p:sp>
      <p:sp>
        <p:nvSpPr>
          <p:cNvPr id="71" name="Rectangle 7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2606040" y="6126480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06040" y="616305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availabilityslot</a:t>
            </a:r>
          </a:p>
        </p:txBody>
      </p:sp>
      <p:sp>
        <p:nvSpPr>
          <p:cNvPr id="73" name="Rectangle 7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611880" y="6126480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11880" y="616305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message</a:t>
            </a:r>
          </a:p>
        </p:txBody>
      </p:sp>
      <p:sp>
        <p:nvSpPr>
          <p:cNvPr id="75" name="Rectangle 7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617720" y="6126480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17720" y="616305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providervisitrating</a:t>
            </a:r>
          </a:p>
        </p:txBody>
      </p:sp>
      <p:sp>
        <p:nvSpPr>
          <p:cNvPr id="77" name="Rectangle 7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623560" y="6126480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23560" y="616305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provider_rates</a:t>
            </a:r>
          </a:p>
        </p:txBody>
      </p:sp>
      <p:sp>
        <p:nvSpPr>
          <p:cNvPr id="79" name="Rectangle 7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629400" y="6126480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29400" y="616305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provider_wallet</a:t>
            </a:r>
          </a:p>
        </p:txBody>
      </p:sp>
      <p:sp>
        <p:nvSpPr>
          <p:cNvPr id="81" name="Rectangle 8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635240" y="6126480"/>
            <a:ext cx="822960" cy="256032"/>
          </a:xfrm>
          <a:solidFill>
            <a:srgbClr val="0C3D38"/>
          </a:solidFill>
          <a:ln w="762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35240" y="616305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Calibri"/>
              </a:rPr>
              <a:t>admin_wallet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94076" y="228600"/>
            <a:ext cx="6400800" cy="6400800"/>
          </a:xfrm>
          <a:prstGeom prst="ellipse">
            <a:avLst/>
          </a:prstGeom>
          <a:solidFill>
            <a:srgbClr val="0B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17036" y="1051560"/>
            <a:ext cx="4754880" cy="4754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362956" y="2148840"/>
            <a:ext cx="1463040" cy="2560320"/>
          </a:xfrm>
          <a:solidFill>
            <a:srgbClr val="0A6D6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454396" y="2350008"/>
            <a:ext cx="1280160" cy="2176272"/>
          </a:xfr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9612" y="45171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659636" y="5715000"/>
            <a:ext cx="1554480" cy="365760"/>
          </a:xfrm>
          <a:solidFill>
            <a:srgbClr val="0A6D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9636" y="5760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Patient Booking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4116.0" y="5897880"/>
            <a:ext cx="274320.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488436" y="5715000"/>
            <a:ext cx="1554480" cy="365760"/>
          </a:xfrm>
          <a:solidFill>
            <a:srgbClr val="0A6D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8436" y="5760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AI Matching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42916.0" y="5897880"/>
            <a:ext cx="274320.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317236" y="5715000"/>
            <a:ext cx="1554480" cy="365760"/>
          </a:xfrm>
          <a:solidFill>
            <a:srgbClr val="0A6D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7236" y="5760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Mock 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71716.0" y="5897880"/>
            <a:ext cx="274320.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146036" y="5715000"/>
            <a:ext cx="1554480" cy="365760"/>
          </a:xfrm>
          <a:solidFill>
            <a:srgbClr val="0A6D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6036" y="5760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Doctor Accept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0516.0" y="5897880"/>
            <a:ext cx="274320.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974836" y="5715000"/>
            <a:ext cx="1554480" cy="365760"/>
          </a:xfrm>
          <a:solidFill>
            <a:srgbClr val="0A6D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5760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Chat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Production-grade open-source stack — Flutter · Node.js · MySQL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411480" y="1508760"/>
            <a:ext cx="5486400" cy="4572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📱  Frontend — Flutter / Dart</a:t>
            </a:r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2103120"/>
            <a:ext cx="5486400" cy="658368"/>
          </a:xfrm>
          <a:solidFill>
            <a:srgbClr val="FAFD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7784" y="2322576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579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Flutter 3 + 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505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Cross-platform mobile + web + desktop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2834640"/>
            <a:ext cx="5486400" cy="658368"/>
          </a:xfrm>
          <a:solidFill>
            <a:srgbClr val="FAFDF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7784" y="3054096"/>
            <a:ext cx="219456" cy="21945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8950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speech_to_text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821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Voice search for AI screen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3566160"/>
            <a:ext cx="5486400" cy="658368"/>
          </a:xfrm>
          <a:solidFill>
            <a:srgbClr val="FAFD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7784" y="3785616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geolocator + flutter_map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136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GPS + Haversine distance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4297680"/>
            <a:ext cx="5486400" cy="658368"/>
          </a:xfrm>
          <a:solidFill>
            <a:srgbClr val="FAFD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4517136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5254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table_calendar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4515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Provider availability slots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5029200"/>
            <a:ext cx="5486400" cy="658368"/>
          </a:xfrm>
          <a:solidFill>
            <a:srgbClr val="FAFDFC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7784" y="5248656"/>
            <a:ext cx="219456" cy="21945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8406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http + shared_preferences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766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REST calls + session storage</a:t>
            </a:r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5760720"/>
            <a:ext cx="5486400" cy="658368"/>
          </a:xfrm>
          <a:solidFill>
            <a:srgbClr val="FAFDFC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5980176"/>
            <a:ext cx="219456" cy="21945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155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pdf + printing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1081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Prescription PDF generation</a:t>
            </a:r>
          </a:p>
        </p:txBody>
      </p:sp>
      <p:sp>
        <p:nvSpPr>
          <p:cNvPr id="33" name="Rectangle 3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309360" y="1508760"/>
            <a:ext cx="5486400" cy="4572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5361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⚙️  Backend — Node.js / Express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309360" y="2103120"/>
            <a:ext cx="5486400" cy="658368"/>
          </a:xfrm>
          <a:solidFill>
            <a:srgbClr val="FAFD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55664" y="2322576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1579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Express.js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4505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12 route groups · REST API</a:t>
            </a:r>
          </a:p>
        </p:txBody>
      </p:sp>
      <p:sp>
        <p:nvSpPr>
          <p:cNvPr id="39" name="Rectangle 3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309360" y="2834640"/>
            <a:ext cx="5486400" cy="658368"/>
          </a:xfrm>
          <a:solidFill>
            <a:srgbClr val="FAFDF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55664" y="3054096"/>
            <a:ext cx="219456" cy="21945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288950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MySQL2 + connection pool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1821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utf8mb4 · 10 connections · schema-adaptive queries</a:t>
            </a:r>
          </a:p>
        </p:txBody>
      </p:sp>
      <p:sp>
        <p:nvSpPr>
          <p:cNvPr id="43" name="Rectangle 4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309360" y="3566160"/>
            <a:ext cx="5486400" cy="658368"/>
          </a:xfrm>
          <a:solidFill>
            <a:srgbClr val="FAFD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55664" y="3785616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362102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bcrypt + OTP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9136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Password hashing · Phone + Email OTP (Twilio/SMTP)</a:t>
            </a:r>
          </a:p>
        </p:txBody>
      </p:sp>
      <p:sp>
        <p:nvSpPr>
          <p:cNvPr id="47" name="Rectangle 4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309360" y="4297680"/>
            <a:ext cx="5486400" cy="658368"/>
          </a:xfrm>
          <a:solidFill>
            <a:srgbClr val="FAFD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55664" y="4517136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435254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multer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464515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Image/PDF/voice file uploads (25 MB)</a:t>
            </a:r>
          </a:p>
        </p:txBody>
      </p:sp>
      <p:sp>
        <p:nvSpPr>
          <p:cNvPr id="51" name="Rectangle 5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309360" y="5029200"/>
            <a:ext cx="5486400" cy="658368"/>
          </a:xfrm>
          <a:solidFill>
            <a:srgbClr val="FAFDFC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55664" y="5248656"/>
            <a:ext cx="219456" cy="21945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508406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nodemailer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3766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Email verification codes (SMTP)</a:t>
            </a:r>
          </a:p>
        </p:txBody>
      </p:sp>
      <p:sp>
        <p:nvSpPr>
          <p:cNvPr id="55" name="Rectangle 5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6309360" y="5760720"/>
            <a:ext cx="5486400" cy="658368"/>
          </a:xfrm>
          <a:solidFill>
            <a:srgbClr val="FAFDFC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55664" y="5980176"/>
            <a:ext cx="219456" cy="21945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0" y="58155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lxml / xml parsing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61081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Schema migration compatibility layer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F0FDFA"/>
              </a:gs>
              <a:gs pos="100000">
                <a:srgbClr val="E0F7F4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Three-phase roadmap to evolve CareLink beyond the graduation prototype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731520" y="3447288"/>
            <a:ext cx="10698480" cy="5486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74520" y="32461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91640" y="3063240"/>
            <a:ext cx="822960" cy="822960"/>
          </a:xfrm>
          <a:prstGeom prst="ellipse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Production-Ready</a:t>
            </a:r>
          </a:p>
        </p:txBody>
      </p:sp>
      <p:sp>
        <p:nvSpPr>
          <p:cNvPr id="12" name="Rectangle 1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57200" y="3977640"/>
            <a:ext cx="3291840" cy="2331720"/>
          </a:xfr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57200" y="3977640"/>
            <a:ext cx="3291840" cy="73152"/>
          </a:xfr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Real payment gateway (Stripe / HyperPay)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Firebase Cloud Messaging (push notifications)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6636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JWT authentication (replace userId-as-token)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692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Rate limiting + input validation middleware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0" y="32461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0" y="3063240"/>
            <a:ext cx="822960" cy="822960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743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  <a:latin typeface="Calibri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Enhanced Clinical Tools</a:t>
            </a:r>
          </a:p>
        </p:txBody>
      </p:sp>
      <p:sp>
        <p:nvSpPr>
          <p:cNvPr id="22" name="Rectangle 2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886200" y="3977640"/>
            <a:ext cx="3291840" cy="2331720"/>
          </a:xfr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886200" y="3977640"/>
            <a:ext cx="3291840" cy="73152"/>
          </a:xfr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41605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Video consultation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6344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In-app prescription PDF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16636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Lab result upload + OCR parsing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6692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Doctor-to-doctor referral workflow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0" y="32461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03920" y="3063240"/>
            <a:ext cx="822960" cy="822960"/>
          </a:xfrm>
          <a:prstGeom prst="ellipse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743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AI &amp; Wearables</a:t>
            </a:r>
          </a:p>
        </p:txBody>
      </p:sp>
      <p:sp>
        <p:nvSpPr>
          <p:cNvPr id="32" name="Rectangle 3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269480" y="3977640"/>
            <a:ext cx="3291840" cy="2331720"/>
          </a:xfr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269480" y="3977640"/>
            <a:ext cx="3291840" cy="73152"/>
          </a:xfr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41605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ML-trained recommendation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66344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Wearable device (heart rate, glucose)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16636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Predictive scheduling from visit history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6692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›  Multi-language NLP for symptom parsing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What CareLink delivers as a graduation project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6B6D4"/>
              </a:gs>
            </a:gsLst>
            <a:lin ang="8100000" scaled="0"/>
          </a:gradFill>
          <a:xfrm>
            <a:off x="640080" y="1207008"/>
            <a:ext cx="1152144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57200" y="1691640"/>
            <a:ext cx="3474720" cy="329184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11480" y="1645920"/>
            <a:ext cx="3474720" cy="3291840"/>
          </a:xfr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0D9488"/>
              </a:gs>
              <a:gs pos="100000">
                <a:srgbClr val="0A9488"/>
              </a:gs>
            </a:gsLst>
            <a:lin ang="8100000" scaled="0"/>
          </a:gradFill>
          <a:xfrm>
            <a:off x="411480" y="1645920"/>
            <a:ext cx="3474720" cy="5029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✓  Full-Stack Mobile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Flutter + Node.js + MySQL serving four distinct user roles — Patient, Doctor, Nurse, and Admin — each with dedicated dashboards, workflows, and access controls.</a:t>
            </a:r>
          </a:p>
        </p:txBody>
      </p:sp>
      <p:sp>
        <p:nvSpPr>
          <p:cNvPr id="12" name="Rectangle 1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97680" y="1691640"/>
            <a:ext cx="3474720" cy="329184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4251960" y="1645920"/>
            <a:ext cx="3474720" cy="3291840"/>
          </a:xfr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gradFill>
            <a:gsLst>
              <a:gs pos="0">
                <a:srgbClr val="06B6D4"/>
              </a:gs>
              <a:gs pos="100000">
                <a:srgbClr val="04B6D4"/>
              </a:gs>
            </a:gsLst>
            <a:lin ang="8100000" scaled="0"/>
          </a:gradFill>
          <a:xfrm>
            <a:off x="4251960" y="1645920"/>
            <a:ext cx="3474720" cy="5029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240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✓  Explainable AI Provider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803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Rule-based weighted scoring engine that ingests OCR-extracted medical file tags, GPS distance, specialization, and ratings to rank providers with human-readable reasons.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138160" y="1691640"/>
            <a:ext cx="3474720" cy="329184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092440" y="1645920"/>
            <a:ext cx="3474720" cy="3291840"/>
          </a:xfr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gradFill>
            <a:gsLst>
              <a:gs pos="0">
                <a:srgbClr val="10B981"/>
              </a:gs>
              <a:gs pos="100000">
                <a:srgbClr val="0CB981"/>
              </a:gs>
            </a:gsLst>
            <a:lin ang="8100000" scaled="0"/>
          </a:gradFill>
          <a:xfrm>
            <a:off x="8092440" y="1645920"/>
            <a:ext cx="3474720" cy="5029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2402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✓  Governance &amp; Financial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803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Admin rate approval gate, escrow-style payment system, 100%/80% cancellation refund policy, provider wallet, and admin commission split — all implemented and enforced server-side.</a:t>
            </a:r>
          </a:p>
        </p:txBody>
      </p:sp>
      <p:sp>
        <p:nvSpPr>
          <p:cNvPr id="22" name="Rectangle 21"/>
          <p:cNvSpPr/>
          <p:nvPr/>
        </p:nvSpPr>
        <p:spPr>
          <a:gradFill>
            <a:gsLst>
              <a:gs pos="0">
                <a:srgbClr val="CCF5F1"/>
              </a:gs>
              <a:gs pos="100000">
                <a:srgbClr val="A5F3FC"/>
              </a:gs>
            </a:gsLst>
            <a:lin ang="0" scaled="0"/>
          </a:gradFill>
          <a:xfrm>
            <a:off x="457200" y="5166360"/>
            <a:ext cx="11247120" cy="8229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3951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9488"/>
                </a:solidFill>
                <a:latin typeface="Calibri"/>
              </a:rPr>
              <a:t>CareLink demonstrates that a small engineering team can design, build, and govern a complete digital healthcare ecosystem — from first symptom to completed visit.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65552"/>
              </a:gs>
              <a:gs pos="100000">
                <a:srgbClr val="0D9488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-731520"/>
            <a:ext cx="3291840" cy="3291840"/>
          </a:xfrm>
          <a:prstGeom prst="ellipse">
            <a:avLst/>
          </a:prstGeom>
          <a:solidFill>
            <a:srgbClr val="08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4114800"/>
            <a:ext cx="3657600" cy="3657600"/>
          </a:xfrm>
          <a:prstGeom prst="ellipse">
            <a:avLst/>
          </a:prstGeom>
          <a:solidFill>
            <a:srgbClr val="08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457200"/>
            <a:ext cx="1828800" cy="1828800"/>
          </a:xfrm>
          <a:prstGeom prst="ellipse">
            <a:avLst/>
          </a:prstGeom>
          <a:solidFill>
            <a:srgbClr val="077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0" y="5486400"/>
            <a:ext cx="1463040" cy="1463040"/>
          </a:xfrm>
          <a:prstGeom prst="ellipse">
            <a:avLst/>
          </a:prstGeom>
          <a:solidFill>
            <a:srgbClr val="077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5EEAD4"/>
              </a:gs>
              <a:gs pos="100000">
                <a:srgbClr val="A5F3FC"/>
              </a:gs>
            </a:gsLst>
            <a:lin ang="5400000" scaled="0"/>
          </a:gradFill>
          <a:xfrm>
            <a:off x="0" y="0"/>
            <a:ext cx="109728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5EEAD4"/>
                </a:solidFill>
                <a:latin typeface="Calibri"/>
              </a:rPr>
              <a:t>CareLink</a:t>
            </a:r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5EEAD4"/>
              </a:gs>
              <a:gs pos="100000">
                <a:srgbClr val="A5F3FC"/>
              </a:gs>
            </a:gsLst>
            <a:lin ang="8100000" scaled="0"/>
          </a:gradFill>
          <a:xfrm>
            <a:off x="3657600" y="3520440"/>
            <a:ext cx="4846320" cy="457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EEAD4"/>
                </a:solidFill>
                <a:latin typeface="Calibri"/>
              </a:rPr>
              <a:t>Open for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EEAD4"/>
                </a:solidFill>
                <a:latin typeface="Calibri"/>
              </a:rPr>
              <a:t>Computer Science Department  ·  Graduation Project  ·  2025 – 2026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499616" y="5349240"/>
            <a:ext cx="1691640" cy="347472"/>
          </a:xfrm>
          <a:solidFill>
            <a:srgbClr val="08504D"/>
          </a:solidFill>
          <a:ln w="1016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9616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User Roles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3374136" y="5349240"/>
            <a:ext cx="1691640" cy="347472"/>
          </a:xfrm>
          <a:solidFill>
            <a:srgbClr val="08504D"/>
          </a:solidFill>
          <a:ln w="1016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 API Routes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5248656" y="5349240"/>
            <a:ext cx="1691640" cy="347472"/>
          </a:xfrm>
          <a:solidFill>
            <a:srgbClr val="08504D"/>
          </a:solidFill>
          <a:ln w="1016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19" name="Rectangle 18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7123176" y="5349240"/>
            <a:ext cx="1691640" cy="347472"/>
          </a:xfrm>
          <a:solidFill>
            <a:srgbClr val="08504D"/>
          </a:solidFill>
          <a:ln w="1016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3176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Escrow Payments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8997696" y="5349240"/>
            <a:ext cx="1691640" cy="347472"/>
          </a:xfrm>
          <a:solidFill>
            <a:srgbClr val="08504D"/>
          </a:solidFill>
          <a:ln w="1016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Bilingual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